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457200"/>
            <a:ext cx="4572000" cy="4572000"/>
          </a:xfrm>
          <a:prstGeom prst="rect">
            <a:avLst/>
          </a:prstGeom>
          <a:noFill/>
          <a:ln w="6350">
            <a:solidFill>
              <a:srgbClr val="1A1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4754880"/>
            <a:ext cx="2743200" cy="2743200"/>
          </a:xfrm>
          <a:prstGeom prst="rect">
            <a:avLst/>
          </a:prstGeom>
          <a:noFill/>
          <a:ln w="6350">
            <a:solidFill>
              <a:srgbClr val="1A1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EMERGING AI RESEARCH</a:t>
            </a:r>
          </a:p>
        </p:txBody>
      </p:sp>
      <p:sp>
        <p:nvSpPr>
          <p:cNvPr id="6" name="TextBox 5"/>
          <p:cNvSpPr txBox="1"/>
          <p:nvPr/>
        </p:nvSpPr>
        <p:spPr>
          <a:xfrm>
            <a:off x="640080" y="1097280"/>
            <a:ext cx="9144000" cy="1188720"/>
          </a:xfrm>
          <a:prstGeom prst="rect">
            <a:avLst/>
          </a:prstGeom>
          <a:noFill/>
        </p:spPr>
        <p:txBody>
          <a:bodyPr wrap="square">
            <a:spAutoFit/>
          </a:bodyPr>
          <a:lstStyle/>
          <a:p>
            <a:pPr algn="l"/>
            <a:r>
              <a:rPr sz="5400" b="1" i="0">
                <a:solidFill>
                  <a:srgbClr val="FFFFFF"/>
                </a:solidFill>
              </a:rPr>
              <a:t>AI World Models</a:t>
            </a:r>
          </a:p>
        </p:txBody>
      </p:sp>
      <p:sp>
        <p:nvSpPr>
          <p:cNvPr id="7" name="TextBox 6"/>
          <p:cNvSpPr txBox="1"/>
          <p:nvPr/>
        </p:nvSpPr>
        <p:spPr>
          <a:xfrm>
            <a:off x="640080" y="2194560"/>
            <a:ext cx="9144000" cy="914400"/>
          </a:xfrm>
          <a:prstGeom prst="rect">
            <a:avLst/>
          </a:prstGeom>
          <a:noFill/>
        </p:spPr>
        <p:txBody>
          <a:bodyPr wrap="square">
            <a:spAutoFit/>
          </a:bodyPr>
          <a:lstStyle/>
          <a:p>
            <a:pPr algn="l"/>
            <a:r>
              <a:rPr sz="5400" b="1" i="0">
                <a:solidFill>
                  <a:srgbClr val="6B7AFF"/>
                </a:solidFill>
              </a:rPr>
              <a:t>Evolution</a:t>
            </a:r>
          </a:p>
        </p:txBody>
      </p:sp>
      <p:sp>
        <p:nvSpPr>
          <p:cNvPr id="8" name="TextBox 7"/>
          <p:cNvSpPr txBox="1"/>
          <p:nvPr/>
        </p:nvSpPr>
        <p:spPr>
          <a:xfrm>
            <a:off x="640080" y="3291840"/>
            <a:ext cx="8229600" cy="914400"/>
          </a:xfrm>
          <a:prstGeom prst="rect">
            <a:avLst/>
          </a:prstGeom>
          <a:noFill/>
        </p:spPr>
        <p:txBody>
          <a:bodyPr wrap="square">
            <a:spAutoFit/>
          </a:bodyPr>
          <a:lstStyle/>
          <a:p>
            <a:pPr algn="l"/>
            <a:r>
              <a:rPr sz="1400" b="0" i="0">
                <a:solidFill>
                  <a:srgbClr val="8892B0"/>
                </a:solidFill>
              </a:rPr>
              <a:t>From reactive pattern matching to internal simulations of reality —
how machines are learning to understand the world.</a:t>
            </a:r>
          </a:p>
        </p:txBody>
      </p:sp>
      <p:sp>
        <p:nvSpPr>
          <p:cNvPr id="9" name="TextBox 8"/>
          <p:cNvSpPr txBox="1"/>
          <p:nvPr/>
        </p:nvSpPr>
        <p:spPr>
          <a:xfrm>
            <a:off x="640080" y="4480560"/>
            <a:ext cx="2011680" cy="347472"/>
          </a:xfrm>
          <a:prstGeom prst="rect">
            <a:avLst/>
          </a:prstGeom>
          <a:noFill/>
        </p:spPr>
        <p:txBody>
          <a:bodyPr wrap="square">
            <a:spAutoFit/>
          </a:bodyPr>
          <a:lstStyle/>
          <a:p>
            <a:pPr algn="ctr"/>
            <a:r>
              <a:rPr sz="900" b="0" i="0">
                <a:solidFill>
                  <a:srgbClr val="6B7AFF"/>
                </a:solidFill>
              </a:rPr>
              <a:t>  World Models  </a:t>
            </a:r>
          </a:p>
        </p:txBody>
      </p:sp>
      <p:sp>
        <p:nvSpPr>
          <p:cNvPr id="10" name="Rectangle 9"/>
          <p:cNvSpPr/>
          <p:nvPr/>
        </p:nvSpPr>
        <p:spPr>
          <a:xfrm>
            <a:off x="640080" y="4480560"/>
            <a:ext cx="1161288" cy="32004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507992"/>
            <a:ext cx="1069848" cy="274320"/>
          </a:xfrm>
          <a:prstGeom prst="rect">
            <a:avLst/>
          </a:prstGeom>
          <a:noFill/>
        </p:spPr>
        <p:txBody>
          <a:bodyPr wrap="square">
            <a:spAutoFit/>
          </a:bodyPr>
          <a:lstStyle/>
          <a:p>
            <a:pPr algn="l"/>
            <a:r>
              <a:rPr sz="900" b="0" i="0">
                <a:solidFill>
                  <a:srgbClr val="6B7AFF"/>
                </a:solidFill>
              </a:rPr>
              <a:t>World Models</a:t>
            </a:r>
          </a:p>
        </p:txBody>
      </p:sp>
      <p:sp>
        <p:nvSpPr>
          <p:cNvPr id="12" name="TextBox 11"/>
          <p:cNvSpPr txBox="1"/>
          <p:nvPr/>
        </p:nvSpPr>
        <p:spPr>
          <a:xfrm>
            <a:off x="1892808" y="4480560"/>
            <a:ext cx="2011680" cy="347472"/>
          </a:xfrm>
          <a:prstGeom prst="rect">
            <a:avLst/>
          </a:prstGeom>
          <a:noFill/>
        </p:spPr>
        <p:txBody>
          <a:bodyPr wrap="square">
            <a:spAutoFit/>
          </a:bodyPr>
          <a:lstStyle/>
          <a:p>
            <a:pPr algn="ctr"/>
            <a:r>
              <a:rPr sz="900" b="0" i="0">
                <a:solidFill>
                  <a:srgbClr val="6B7AFF"/>
                </a:solidFill>
              </a:rPr>
              <a:t>  Deep Learning  </a:t>
            </a:r>
          </a:p>
        </p:txBody>
      </p:sp>
      <p:sp>
        <p:nvSpPr>
          <p:cNvPr id="13" name="Rectangle 12"/>
          <p:cNvSpPr/>
          <p:nvPr/>
        </p:nvSpPr>
        <p:spPr>
          <a:xfrm>
            <a:off x="1892808" y="4480560"/>
            <a:ext cx="1239012" cy="32004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38528" y="4507992"/>
            <a:ext cx="1147572" cy="274320"/>
          </a:xfrm>
          <a:prstGeom prst="rect">
            <a:avLst/>
          </a:prstGeom>
          <a:noFill/>
        </p:spPr>
        <p:txBody>
          <a:bodyPr wrap="square">
            <a:spAutoFit/>
          </a:bodyPr>
          <a:lstStyle/>
          <a:p>
            <a:pPr algn="l"/>
            <a:r>
              <a:rPr sz="900" b="0" i="0">
                <a:solidFill>
                  <a:srgbClr val="6B7AFF"/>
                </a:solidFill>
              </a:rPr>
              <a:t>Deep Learning</a:t>
            </a:r>
          </a:p>
        </p:txBody>
      </p:sp>
      <p:sp>
        <p:nvSpPr>
          <p:cNvPr id="15" name="TextBox 14"/>
          <p:cNvSpPr txBox="1"/>
          <p:nvPr/>
        </p:nvSpPr>
        <p:spPr>
          <a:xfrm>
            <a:off x="3223260" y="4480560"/>
            <a:ext cx="2011680" cy="347472"/>
          </a:xfrm>
          <a:prstGeom prst="rect">
            <a:avLst/>
          </a:prstGeom>
          <a:noFill/>
        </p:spPr>
        <p:txBody>
          <a:bodyPr wrap="square">
            <a:spAutoFit/>
          </a:bodyPr>
          <a:lstStyle/>
          <a:p>
            <a:pPr algn="ctr"/>
            <a:r>
              <a:rPr sz="900" b="0" i="0">
                <a:solidFill>
                  <a:srgbClr val="6B7AFF"/>
                </a:solidFill>
              </a:rPr>
              <a:t>  Reinforcement Learning  </a:t>
            </a:r>
          </a:p>
        </p:txBody>
      </p:sp>
      <p:sp>
        <p:nvSpPr>
          <p:cNvPr id="16" name="Rectangle 15"/>
          <p:cNvSpPr/>
          <p:nvPr/>
        </p:nvSpPr>
        <p:spPr>
          <a:xfrm>
            <a:off x="3223260" y="4480560"/>
            <a:ext cx="1938528" cy="32004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68980" y="4507992"/>
            <a:ext cx="1847088" cy="274320"/>
          </a:xfrm>
          <a:prstGeom prst="rect">
            <a:avLst/>
          </a:prstGeom>
          <a:noFill/>
        </p:spPr>
        <p:txBody>
          <a:bodyPr wrap="square">
            <a:spAutoFit/>
          </a:bodyPr>
          <a:lstStyle/>
          <a:p>
            <a:pPr algn="l"/>
            <a:r>
              <a:rPr sz="900" b="0" i="0">
                <a:solidFill>
                  <a:srgbClr val="6B7AFF"/>
                </a:solidFill>
              </a:rPr>
              <a:t>Reinforcement Learning</a:t>
            </a:r>
          </a:p>
        </p:txBody>
      </p:sp>
      <p:sp>
        <p:nvSpPr>
          <p:cNvPr id="18" name="TextBox 17"/>
          <p:cNvSpPr txBox="1"/>
          <p:nvPr/>
        </p:nvSpPr>
        <p:spPr>
          <a:xfrm>
            <a:off x="5253228" y="4480560"/>
            <a:ext cx="2011680" cy="347472"/>
          </a:xfrm>
          <a:prstGeom prst="rect">
            <a:avLst/>
          </a:prstGeom>
          <a:noFill/>
        </p:spPr>
        <p:txBody>
          <a:bodyPr wrap="square">
            <a:spAutoFit/>
          </a:bodyPr>
          <a:lstStyle/>
          <a:p>
            <a:pPr algn="ctr"/>
            <a:r>
              <a:rPr sz="900" b="0" i="0">
                <a:solidFill>
                  <a:srgbClr val="6B7AFF"/>
                </a:solidFill>
              </a:rPr>
              <a:t>  Foundation Models  </a:t>
            </a:r>
          </a:p>
        </p:txBody>
      </p:sp>
      <p:sp>
        <p:nvSpPr>
          <p:cNvPr id="19" name="Rectangle 18"/>
          <p:cNvSpPr/>
          <p:nvPr/>
        </p:nvSpPr>
        <p:spPr>
          <a:xfrm>
            <a:off x="5253228" y="4480560"/>
            <a:ext cx="1549908" cy="32004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98948" y="4507992"/>
            <a:ext cx="1458468" cy="274320"/>
          </a:xfrm>
          <a:prstGeom prst="rect">
            <a:avLst/>
          </a:prstGeom>
          <a:noFill/>
        </p:spPr>
        <p:txBody>
          <a:bodyPr wrap="square">
            <a:spAutoFit/>
          </a:bodyPr>
          <a:lstStyle/>
          <a:p>
            <a:pPr algn="l"/>
            <a:r>
              <a:rPr sz="900" b="0" i="0">
                <a:solidFill>
                  <a:srgbClr val="6B7AFF"/>
                </a:solidFill>
              </a:rPr>
              <a:t>Foundation Models</a:t>
            </a:r>
          </a:p>
        </p:txBody>
      </p:sp>
      <p:sp>
        <p:nvSpPr>
          <p:cNvPr id="21" name="TextBox 20"/>
          <p:cNvSpPr txBox="1"/>
          <p:nvPr/>
        </p:nvSpPr>
        <p:spPr>
          <a:xfrm>
            <a:off x="6894576" y="4480560"/>
            <a:ext cx="2011680" cy="347472"/>
          </a:xfrm>
          <a:prstGeom prst="rect">
            <a:avLst/>
          </a:prstGeom>
          <a:noFill/>
        </p:spPr>
        <p:txBody>
          <a:bodyPr wrap="square">
            <a:spAutoFit/>
          </a:bodyPr>
          <a:lstStyle/>
          <a:p>
            <a:pPr algn="ctr"/>
            <a:r>
              <a:rPr sz="900" b="0" i="0">
                <a:solidFill>
                  <a:srgbClr val="6B7AFF"/>
                </a:solidFill>
              </a:rPr>
              <a:t>  AGI Research  </a:t>
            </a:r>
          </a:p>
        </p:txBody>
      </p:sp>
      <p:sp>
        <p:nvSpPr>
          <p:cNvPr id="22" name="Rectangle 21"/>
          <p:cNvSpPr/>
          <p:nvPr/>
        </p:nvSpPr>
        <p:spPr>
          <a:xfrm>
            <a:off x="6894576" y="4480560"/>
            <a:ext cx="1161288" cy="32004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0296" y="4507992"/>
            <a:ext cx="1069848" cy="274320"/>
          </a:xfrm>
          <a:prstGeom prst="rect">
            <a:avLst/>
          </a:prstGeom>
          <a:noFill/>
        </p:spPr>
        <p:txBody>
          <a:bodyPr wrap="square">
            <a:spAutoFit/>
          </a:bodyPr>
          <a:lstStyle/>
          <a:p>
            <a:pPr algn="l"/>
            <a:r>
              <a:rPr sz="900" b="0" i="0">
                <a:solidFill>
                  <a:srgbClr val="6B7AFF"/>
                </a:solidFill>
              </a:rPr>
              <a:t>AGI Research</a:t>
            </a:r>
          </a:p>
        </p:txBody>
      </p:sp>
      <p:sp>
        <p:nvSpPr>
          <p:cNvPr id="24" name="TextBox 23"/>
          <p:cNvSpPr txBox="1"/>
          <p:nvPr/>
        </p:nvSpPr>
        <p:spPr>
          <a:xfrm>
            <a:off x="640080" y="6309360"/>
            <a:ext cx="3657600" cy="320040"/>
          </a:xfrm>
          <a:prstGeom prst="rect">
            <a:avLst/>
          </a:prstGeom>
          <a:noFill/>
        </p:spPr>
        <p:txBody>
          <a:bodyPr wrap="square">
            <a:spAutoFit/>
          </a:bodyPr>
          <a:lstStyle/>
          <a:p>
            <a:pPr algn="l"/>
            <a:r>
              <a:rPr sz="1000" b="0" i="0">
                <a:solidFill>
                  <a:srgbClr val="404560"/>
                </a:solidFill>
              </a:rPr>
              <a:t>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FOUNDATIONS</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What Is a World Model?</a:t>
            </a:r>
          </a:p>
        </p:txBody>
      </p:sp>
      <p:sp>
        <p:nvSpPr>
          <p:cNvPr id="5" name="Rectangle 4"/>
          <p:cNvSpPr/>
          <p:nvPr/>
        </p:nvSpPr>
        <p:spPr>
          <a:xfrm>
            <a:off x="640080" y="1691640"/>
            <a:ext cx="10881360" cy="1097280"/>
          </a:xfrm>
          <a:prstGeom prst="rect">
            <a:avLst/>
          </a:prstGeom>
          <a:solidFill>
            <a:srgbClr val="101025"/>
          </a:solidFill>
          <a:ln w="12700">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332720" cy="822960"/>
          </a:xfrm>
          <a:prstGeom prst="rect">
            <a:avLst/>
          </a:prstGeom>
          <a:noFill/>
        </p:spPr>
        <p:txBody>
          <a:bodyPr wrap="square">
            <a:spAutoFit/>
          </a:bodyPr>
          <a:lstStyle/>
          <a:p>
            <a:pPr algn="l"/>
            <a:r>
              <a:rPr sz="1300" b="0" i="1">
                <a:solidFill>
                  <a:srgbClr val="C5CEFF"/>
                </a:solidFill>
              </a:rPr>
              <a:t>"A world model is an internal representation that an agent uses to simulate, predict, and reason about its environment — enabling planning beyond immediate perception."</a:t>
            </a:r>
          </a:p>
        </p:txBody>
      </p:sp>
      <p:sp>
        <p:nvSpPr>
          <p:cNvPr id="7" name="Rectangle 6"/>
          <p:cNvSpPr/>
          <p:nvPr/>
        </p:nvSpPr>
        <p:spPr>
          <a:xfrm>
            <a:off x="640080" y="2971800"/>
            <a:ext cx="3474720" cy="27432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08960"/>
            <a:ext cx="457200" cy="411480"/>
          </a:xfrm>
          <a:prstGeom prst="rect">
            <a:avLst/>
          </a:prstGeom>
          <a:noFill/>
        </p:spPr>
        <p:txBody>
          <a:bodyPr wrap="square">
            <a:spAutoFit/>
          </a:bodyPr>
          <a:lstStyle/>
          <a:p>
            <a:pPr algn="l"/>
            <a:r>
              <a:rPr sz="2000" b="0" i="0">
                <a:solidFill>
                  <a:srgbClr val="FFFFFF"/>
                </a:solidFill>
              </a:rPr>
              <a:t>🧠</a:t>
            </a:r>
          </a:p>
        </p:txBody>
      </p:sp>
      <p:sp>
        <p:nvSpPr>
          <p:cNvPr id="9" name="TextBox 8"/>
          <p:cNvSpPr txBox="1"/>
          <p:nvPr/>
        </p:nvSpPr>
        <p:spPr>
          <a:xfrm>
            <a:off x="822960" y="3474720"/>
            <a:ext cx="3108960" cy="320040"/>
          </a:xfrm>
          <a:prstGeom prst="rect">
            <a:avLst/>
          </a:prstGeom>
          <a:noFill/>
        </p:spPr>
        <p:txBody>
          <a:bodyPr wrap="square">
            <a:spAutoFit/>
          </a:bodyPr>
          <a:lstStyle/>
          <a:p>
            <a:pPr algn="l"/>
            <a:r>
              <a:rPr sz="1200" b="1" i="0">
                <a:solidFill>
                  <a:srgbClr val="C5CEFF"/>
                </a:solidFill>
              </a:rPr>
              <a:t>Internal Representation</a:t>
            </a:r>
          </a:p>
        </p:txBody>
      </p:sp>
      <p:sp>
        <p:nvSpPr>
          <p:cNvPr id="10" name="TextBox 9"/>
          <p:cNvSpPr txBox="1"/>
          <p:nvPr/>
        </p:nvSpPr>
        <p:spPr>
          <a:xfrm>
            <a:off x="822960" y="3776472"/>
            <a:ext cx="3108960" cy="1828800"/>
          </a:xfrm>
          <a:prstGeom prst="rect">
            <a:avLst/>
          </a:prstGeom>
          <a:noFill/>
        </p:spPr>
        <p:txBody>
          <a:bodyPr wrap="square">
            <a:spAutoFit/>
          </a:bodyPr>
          <a:lstStyle/>
          <a:p>
            <a:pPr algn="l"/>
            <a:r>
              <a:rPr sz="1000" b="0" i="0">
                <a:solidFill>
                  <a:srgbClr val="8892B0"/>
                </a:solidFill>
              </a:rPr>
              <a:t>A compressed, structured model of how the world looks, works, and changes over time.</a:t>
            </a:r>
          </a:p>
        </p:txBody>
      </p:sp>
      <p:sp>
        <p:nvSpPr>
          <p:cNvPr id="11" name="Rectangle 10"/>
          <p:cNvSpPr/>
          <p:nvPr/>
        </p:nvSpPr>
        <p:spPr>
          <a:xfrm>
            <a:off x="4343400" y="2971800"/>
            <a:ext cx="3474720" cy="27432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108960"/>
            <a:ext cx="457200" cy="411480"/>
          </a:xfrm>
          <a:prstGeom prst="rect">
            <a:avLst/>
          </a:prstGeom>
          <a:noFill/>
        </p:spPr>
        <p:txBody>
          <a:bodyPr wrap="square">
            <a:spAutoFit/>
          </a:bodyPr>
          <a:lstStyle/>
          <a:p>
            <a:pPr algn="l"/>
            <a:r>
              <a:rPr sz="2000" b="0" i="0">
                <a:solidFill>
                  <a:srgbClr val="FFFFFF"/>
                </a:solidFill>
              </a:rPr>
              <a:t>🔮</a:t>
            </a:r>
          </a:p>
        </p:txBody>
      </p:sp>
      <p:sp>
        <p:nvSpPr>
          <p:cNvPr id="13" name="TextBox 12"/>
          <p:cNvSpPr txBox="1"/>
          <p:nvPr/>
        </p:nvSpPr>
        <p:spPr>
          <a:xfrm>
            <a:off x="4526280" y="3474720"/>
            <a:ext cx="3108960" cy="320040"/>
          </a:xfrm>
          <a:prstGeom prst="rect">
            <a:avLst/>
          </a:prstGeom>
          <a:noFill/>
        </p:spPr>
        <p:txBody>
          <a:bodyPr wrap="square">
            <a:spAutoFit/>
          </a:bodyPr>
          <a:lstStyle/>
          <a:p>
            <a:pPr algn="l"/>
            <a:r>
              <a:rPr sz="1200" b="1" i="0">
                <a:solidFill>
                  <a:srgbClr val="C5CEFF"/>
                </a:solidFill>
              </a:rPr>
              <a:t>Predictive Engine</a:t>
            </a:r>
          </a:p>
        </p:txBody>
      </p:sp>
      <p:sp>
        <p:nvSpPr>
          <p:cNvPr id="14" name="TextBox 13"/>
          <p:cNvSpPr txBox="1"/>
          <p:nvPr/>
        </p:nvSpPr>
        <p:spPr>
          <a:xfrm>
            <a:off x="4526280" y="3776472"/>
            <a:ext cx="3108960" cy="1828800"/>
          </a:xfrm>
          <a:prstGeom prst="rect">
            <a:avLst/>
          </a:prstGeom>
          <a:noFill/>
        </p:spPr>
        <p:txBody>
          <a:bodyPr wrap="square">
            <a:spAutoFit/>
          </a:bodyPr>
          <a:lstStyle/>
          <a:p>
            <a:pPr algn="l"/>
            <a:r>
              <a:rPr sz="1000" b="0" i="0">
                <a:solidFill>
                  <a:srgbClr val="8892B0"/>
                </a:solidFill>
              </a:rPr>
              <a:t>Enables the agent to simulate future states and evaluate potential actions before committing.</a:t>
            </a:r>
          </a:p>
        </p:txBody>
      </p:sp>
      <p:sp>
        <p:nvSpPr>
          <p:cNvPr id="15" name="Rectangle 14"/>
          <p:cNvSpPr/>
          <p:nvPr/>
        </p:nvSpPr>
        <p:spPr>
          <a:xfrm>
            <a:off x="8046720" y="2971800"/>
            <a:ext cx="3474720" cy="27432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3108960"/>
            <a:ext cx="457200" cy="411480"/>
          </a:xfrm>
          <a:prstGeom prst="rect">
            <a:avLst/>
          </a:prstGeom>
          <a:noFill/>
        </p:spPr>
        <p:txBody>
          <a:bodyPr wrap="square">
            <a:spAutoFit/>
          </a:bodyPr>
          <a:lstStyle/>
          <a:p>
            <a:pPr algn="l"/>
            <a:r>
              <a:rPr sz="2000" b="0" i="0">
                <a:solidFill>
                  <a:srgbClr val="FFFFFF"/>
                </a:solidFill>
              </a:rPr>
              <a:t>🗺️</a:t>
            </a:r>
          </a:p>
        </p:txBody>
      </p:sp>
      <p:sp>
        <p:nvSpPr>
          <p:cNvPr id="17" name="TextBox 16"/>
          <p:cNvSpPr txBox="1"/>
          <p:nvPr/>
        </p:nvSpPr>
        <p:spPr>
          <a:xfrm>
            <a:off x="8229600" y="3474720"/>
            <a:ext cx="3108960" cy="320040"/>
          </a:xfrm>
          <a:prstGeom prst="rect">
            <a:avLst/>
          </a:prstGeom>
          <a:noFill/>
        </p:spPr>
        <p:txBody>
          <a:bodyPr wrap="square">
            <a:spAutoFit/>
          </a:bodyPr>
          <a:lstStyle/>
          <a:p>
            <a:pPr algn="l"/>
            <a:r>
              <a:rPr sz="1200" b="1" i="0">
                <a:solidFill>
                  <a:srgbClr val="C5CEFF"/>
                </a:solidFill>
              </a:rPr>
              <a:t>Planning Foundation</a:t>
            </a:r>
          </a:p>
        </p:txBody>
      </p:sp>
      <p:sp>
        <p:nvSpPr>
          <p:cNvPr id="18" name="TextBox 17"/>
          <p:cNvSpPr txBox="1"/>
          <p:nvPr/>
        </p:nvSpPr>
        <p:spPr>
          <a:xfrm>
            <a:off x="8229600" y="3776472"/>
            <a:ext cx="3108960" cy="1828800"/>
          </a:xfrm>
          <a:prstGeom prst="rect">
            <a:avLst/>
          </a:prstGeom>
          <a:noFill/>
        </p:spPr>
        <p:txBody>
          <a:bodyPr wrap="square">
            <a:spAutoFit/>
          </a:bodyPr>
          <a:lstStyle/>
          <a:p>
            <a:pPr algn="l"/>
            <a:r>
              <a:rPr sz="1000" b="0" i="0">
                <a:solidFill>
                  <a:srgbClr val="8892B0"/>
                </a:solidFill>
              </a:rPr>
              <a:t>Decouples perception from action, allowing abstract, long-horizon reasoning and goal-seeking.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ERA 1 · 1980S – 2000S</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Early Roots: Symbolic &amp; Probabilistic</a:t>
            </a:r>
          </a:p>
        </p:txBody>
      </p:sp>
      <p:sp>
        <p:nvSpPr>
          <p:cNvPr id="5" name="Rectangle 4"/>
          <p:cNvSpPr/>
          <p:nvPr/>
        </p:nvSpPr>
        <p:spPr>
          <a:xfrm>
            <a:off x="1600200" y="1691640"/>
            <a:ext cx="27432" cy="4663440"/>
          </a:xfrm>
          <a:prstGeom prst="rect">
            <a:avLst/>
          </a:prstGeom>
          <a:solidFill>
            <a:srgbClr val="2A2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822960" cy="274320"/>
          </a:xfrm>
          <a:prstGeom prst="rect">
            <a:avLst/>
          </a:prstGeom>
          <a:noFill/>
        </p:spPr>
        <p:txBody>
          <a:bodyPr wrap="square">
            <a:spAutoFit/>
          </a:bodyPr>
          <a:lstStyle/>
          <a:p>
            <a:pPr algn="r"/>
            <a:r>
              <a:rPr sz="1000" b="1" i="0">
                <a:solidFill>
                  <a:srgbClr val="6B7AFF"/>
                </a:solidFill>
              </a:rPr>
              <a:t>1986</a:t>
            </a:r>
          </a:p>
        </p:txBody>
      </p:sp>
      <p:sp>
        <p:nvSpPr>
          <p:cNvPr id="7" name="Rectangle 6"/>
          <p:cNvSpPr/>
          <p:nvPr/>
        </p:nvSpPr>
        <p:spPr>
          <a:xfrm>
            <a:off x="1572768" y="1764792"/>
            <a:ext cx="128016" cy="128016"/>
          </a:xfrm>
          <a:prstGeom prst="rect">
            <a:avLst/>
          </a:prstGeom>
          <a:solidFill>
            <a:srgbClr val="6B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1691640"/>
            <a:ext cx="8686800" cy="256032"/>
          </a:xfrm>
          <a:prstGeom prst="rect">
            <a:avLst/>
          </a:prstGeom>
          <a:noFill/>
        </p:spPr>
        <p:txBody>
          <a:bodyPr wrap="square">
            <a:spAutoFit/>
          </a:bodyPr>
          <a:lstStyle/>
          <a:p>
            <a:pPr algn="l"/>
            <a:r>
              <a:rPr sz="1100" b="1" i="0">
                <a:solidFill>
                  <a:srgbClr val="C5CEFF"/>
                </a:solidFill>
              </a:rPr>
              <a:t>Rumelhart's Mental Models</a:t>
            </a:r>
          </a:p>
        </p:txBody>
      </p:sp>
      <p:sp>
        <p:nvSpPr>
          <p:cNvPr id="9" name="TextBox 8"/>
          <p:cNvSpPr txBox="1"/>
          <p:nvPr/>
        </p:nvSpPr>
        <p:spPr>
          <a:xfrm>
            <a:off x="1828800" y="1965960"/>
            <a:ext cx="8686800" cy="320040"/>
          </a:xfrm>
          <a:prstGeom prst="rect">
            <a:avLst/>
          </a:prstGeom>
          <a:noFill/>
        </p:spPr>
        <p:txBody>
          <a:bodyPr wrap="square">
            <a:spAutoFit/>
          </a:bodyPr>
          <a:lstStyle/>
          <a:p>
            <a:pPr algn="l"/>
            <a:r>
              <a:rPr sz="1000" b="0" i="0">
                <a:solidFill>
                  <a:srgbClr val="8892B0"/>
                </a:solidFill>
              </a:rPr>
              <a:t>Connectionist approaches suggest distributed representations as a substrate for world knowledge.</a:t>
            </a:r>
          </a:p>
        </p:txBody>
      </p:sp>
      <p:sp>
        <p:nvSpPr>
          <p:cNvPr id="10" name="TextBox 9"/>
          <p:cNvSpPr txBox="1"/>
          <p:nvPr/>
        </p:nvSpPr>
        <p:spPr>
          <a:xfrm>
            <a:off x="640080" y="2880360"/>
            <a:ext cx="822960" cy="274320"/>
          </a:xfrm>
          <a:prstGeom prst="rect">
            <a:avLst/>
          </a:prstGeom>
          <a:noFill/>
        </p:spPr>
        <p:txBody>
          <a:bodyPr wrap="square">
            <a:spAutoFit/>
          </a:bodyPr>
          <a:lstStyle/>
          <a:p>
            <a:pPr algn="r"/>
            <a:r>
              <a:rPr sz="1000" b="1" i="0">
                <a:solidFill>
                  <a:srgbClr val="6B7AFF"/>
                </a:solidFill>
              </a:rPr>
              <a:t>1989</a:t>
            </a:r>
          </a:p>
        </p:txBody>
      </p:sp>
      <p:sp>
        <p:nvSpPr>
          <p:cNvPr id="11" name="Rectangle 10"/>
          <p:cNvSpPr/>
          <p:nvPr/>
        </p:nvSpPr>
        <p:spPr>
          <a:xfrm>
            <a:off x="1572768" y="2953512"/>
            <a:ext cx="128016" cy="128016"/>
          </a:xfrm>
          <a:prstGeom prst="rect">
            <a:avLst/>
          </a:prstGeom>
          <a:solidFill>
            <a:srgbClr val="6B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2880360"/>
            <a:ext cx="8686800" cy="256032"/>
          </a:xfrm>
          <a:prstGeom prst="rect">
            <a:avLst/>
          </a:prstGeom>
          <a:noFill/>
        </p:spPr>
        <p:txBody>
          <a:bodyPr wrap="square">
            <a:spAutoFit/>
          </a:bodyPr>
          <a:lstStyle/>
          <a:p>
            <a:pPr algn="l"/>
            <a:r>
              <a:rPr sz="1100" b="1" i="0">
                <a:solidFill>
                  <a:srgbClr val="C5CEFF"/>
                </a:solidFill>
              </a:rPr>
              <a:t>Dyna Architecture (Sutton)</a:t>
            </a:r>
          </a:p>
        </p:txBody>
      </p:sp>
      <p:sp>
        <p:nvSpPr>
          <p:cNvPr id="13" name="TextBox 12"/>
          <p:cNvSpPr txBox="1"/>
          <p:nvPr/>
        </p:nvSpPr>
        <p:spPr>
          <a:xfrm>
            <a:off x="1828800" y="3154680"/>
            <a:ext cx="8686800" cy="320040"/>
          </a:xfrm>
          <a:prstGeom prst="rect">
            <a:avLst/>
          </a:prstGeom>
          <a:noFill/>
        </p:spPr>
        <p:txBody>
          <a:bodyPr wrap="square">
            <a:spAutoFit/>
          </a:bodyPr>
          <a:lstStyle/>
          <a:p>
            <a:pPr algn="l"/>
            <a:r>
              <a:rPr sz="1000" b="0" i="0">
                <a:solidFill>
                  <a:srgbClr val="8892B0"/>
                </a:solidFill>
              </a:rPr>
              <a:t>First formal RL framework integrating a learned environment model for simulated planning.</a:t>
            </a:r>
          </a:p>
        </p:txBody>
      </p:sp>
      <p:sp>
        <p:nvSpPr>
          <p:cNvPr id="14" name="TextBox 13"/>
          <p:cNvSpPr txBox="1"/>
          <p:nvPr/>
        </p:nvSpPr>
        <p:spPr>
          <a:xfrm>
            <a:off x="640080" y="4069080"/>
            <a:ext cx="822960" cy="274320"/>
          </a:xfrm>
          <a:prstGeom prst="rect">
            <a:avLst/>
          </a:prstGeom>
          <a:noFill/>
        </p:spPr>
        <p:txBody>
          <a:bodyPr wrap="square">
            <a:spAutoFit/>
          </a:bodyPr>
          <a:lstStyle/>
          <a:p>
            <a:pPr algn="r"/>
            <a:r>
              <a:rPr sz="1000" b="1" i="0">
                <a:solidFill>
                  <a:srgbClr val="6B7AFF"/>
                </a:solidFill>
              </a:rPr>
              <a:t>1998</a:t>
            </a:r>
          </a:p>
        </p:txBody>
      </p:sp>
      <p:sp>
        <p:nvSpPr>
          <p:cNvPr id="15" name="Rectangle 14"/>
          <p:cNvSpPr/>
          <p:nvPr/>
        </p:nvSpPr>
        <p:spPr>
          <a:xfrm>
            <a:off x="1572768" y="4142232"/>
            <a:ext cx="128016" cy="128016"/>
          </a:xfrm>
          <a:prstGeom prst="rect">
            <a:avLst/>
          </a:prstGeom>
          <a:solidFill>
            <a:srgbClr val="6B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0" y="4069080"/>
            <a:ext cx="8686800" cy="256032"/>
          </a:xfrm>
          <a:prstGeom prst="rect">
            <a:avLst/>
          </a:prstGeom>
          <a:noFill/>
        </p:spPr>
        <p:txBody>
          <a:bodyPr wrap="square">
            <a:spAutoFit/>
          </a:bodyPr>
          <a:lstStyle/>
          <a:p>
            <a:pPr algn="l"/>
            <a:r>
              <a:rPr sz="1100" b="1" i="0">
                <a:solidFill>
                  <a:srgbClr val="C5CEFF"/>
                </a:solidFill>
              </a:rPr>
              <a:t>POMDP &amp; Belief States</a:t>
            </a:r>
          </a:p>
        </p:txBody>
      </p:sp>
      <p:sp>
        <p:nvSpPr>
          <p:cNvPr id="17" name="TextBox 16"/>
          <p:cNvSpPr txBox="1"/>
          <p:nvPr/>
        </p:nvSpPr>
        <p:spPr>
          <a:xfrm>
            <a:off x="1828800" y="4343400"/>
            <a:ext cx="8686800" cy="320040"/>
          </a:xfrm>
          <a:prstGeom prst="rect">
            <a:avLst/>
          </a:prstGeom>
          <a:noFill/>
        </p:spPr>
        <p:txBody>
          <a:bodyPr wrap="square">
            <a:spAutoFit/>
          </a:bodyPr>
          <a:lstStyle/>
          <a:p>
            <a:pPr algn="l"/>
            <a:r>
              <a:rPr sz="1000" b="0" i="0">
                <a:solidFill>
                  <a:srgbClr val="8892B0"/>
                </a:solidFill>
              </a:rPr>
              <a:t>Partially Observable MDPs introduce probability distributions over hidden world states.</a:t>
            </a:r>
          </a:p>
        </p:txBody>
      </p:sp>
      <p:sp>
        <p:nvSpPr>
          <p:cNvPr id="18" name="TextBox 17"/>
          <p:cNvSpPr txBox="1"/>
          <p:nvPr/>
        </p:nvSpPr>
        <p:spPr>
          <a:xfrm>
            <a:off x="640080" y="5257800"/>
            <a:ext cx="822960" cy="274320"/>
          </a:xfrm>
          <a:prstGeom prst="rect">
            <a:avLst/>
          </a:prstGeom>
          <a:noFill/>
        </p:spPr>
        <p:txBody>
          <a:bodyPr wrap="square">
            <a:spAutoFit/>
          </a:bodyPr>
          <a:lstStyle/>
          <a:p>
            <a:pPr algn="r"/>
            <a:r>
              <a:rPr sz="1000" b="1" i="0">
                <a:solidFill>
                  <a:srgbClr val="6B7AFF"/>
                </a:solidFill>
              </a:rPr>
              <a:t>2001</a:t>
            </a:r>
          </a:p>
        </p:txBody>
      </p:sp>
      <p:sp>
        <p:nvSpPr>
          <p:cNvPr id="19" name="Rectangle 18"/>
          <p:cNvSpPr/>
          <p:nvPr/>
        </p:nvSpPr>
        <p:spPr>
          <a:xfrm>
            <a:off x="1572768" y="5330952"/>
            <a:ext cx="128016" cy="128016"/>
          </a:xfrm>
          <a:prstGeom prst="rect">
            <a:avLst/>
          </a:prstGeom>
          <a:solidFill>
            <a:srgbClr val="6B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5257800"/>
            <a:ext cx="8686800" cy="256032"/>
          </a:xfrm>
          <a:prstGeom prst="rect">
            <a:avLst/>
          </a:prstGeom>
          <a:noFill/>
        </p:spPr>
        <p:txBody>
          <a:bodyPr wrap="square">
            <a:spAutoFit/>
          </a:bodyPr>
          <a:lstStyle/>
          <a:p>
            <a:pPr algn="l"/>
            <a:r>
              <a:rPr sz="1100" b="1" i="0">
                <a:solidFill>
                  <a:srgbClr val="C5CEFF"/>
                </a:solidFill>
              </a:rPr>
              <a:t>Kalman Filter Robotics</a:t>
            </a:r>
          </a:p>
        </p:txBody>
      </p:sp>
      <p:sp>
        <p:nvSpPr>
          <p:cNvPr id="21" name="TextBox 20"/>
          <p:cNvSpPr txBox="1"/>
          <p:nvPr/>
        </p:nvSpPr>
        <p:spPr>
          <a:xfrm>
            <a:off x="1828800" y="5532120"/>
            <a:ext cx="8686800" cy="320040"/>
          </a:xfrm>
          <a:prstGeom prst="rect">
            <a:avLst/>
          </a:prstGeom>
          <a:noFill/>
        </p:spPr>
        <p:txBody>
          <a:bodyPr wrap="square">
            <a:spAutoFit/>
          </a:bodyPr>
          <a:lstStyle/>
          <a:p>
            <a:pPr algn="l"/>
            <a:r>
              <a:rPr sz="1000" b="0" i="0">
                <a:solidFill>
                  <a:srgbClr val="8892B0"/>
                </a:solidFill>
              </a:rPr>
              <a:t>Mobile robots maintain probabilistic maps — early practical world models for navigation.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ERA 2 · 2012 – 2018</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Deep Learning Era</a:t>
            </a:r>
          </a:p>
        </p:txBody>
      </p:sp>
      <p:sp>
        <p:nvSpPr>
          <p:cNvPr id="5" name="Rectangle 4"/>
          <p:cNvSpPr/>
          <p:nvPr/>
        </p:nvSpPr>
        <p:spPr>
          <a:xfrm>
            <a:off x="640080" y="1691640"/>
            <a:ext cx="5394960" cy="224028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457200" cy="411480"/>
          </a:xfrm>
          <a:prstGeom prst="rect">
            <a:avLst/>
          </a:prstGeom>
          <a:noFill/>
        </p:spPr>
        <p:txBody>
          <a:bodyPr wrap="square">
            <a:spAutoFit/>
          </a:bodyPr>
          <a:lstStyle/>
          <a:p>
            <a:pPr algn="l"/>
            <a:r>
              <a:rPr sz="2000" b="0" i="0">
                <a:solidFill>
                  <a:srgbClr val="FFFFFF"/>
                </a:solidFill>
              </a:rPr>
              <a:t>🕹️</a:t>
            </a:r>
          </a:p>
        </p:txBody>
      </p:sp>
      <p:sp>
        <p:nvSpPr>
          <p:cNvPr id="7" name="TextBox 6"/>
          <p:cNvSpPr txBox="1"/>
          <p:nvPr/>
        </p:nvSpPr>
        <p:spPr>
          <a:xfrm>
            <a:off x="822960" y="2194560"/>
            <a:ext cx="5029200" cy="320040"/>
          </a:xfrm>
          <a:prstGeom prst="rect">
            <a:avLst/>
          </a:prstGeom>
          <a:noFill/>
        </p:spPr>
        <p:txBody>
          <a:bodyPr wrap="square">
            <a:spAutoFit/>
          </a:bodyPr>
          <a:lstStyle/>
          <a:p>
            <a:pPr algn="l"/>
            <a:r>
              <a:rPr sz="1200" b="1" i="0">
                <a:solidFill>
                  <a:srgbClr val="C5CEFF"/>
                </a:solidFill>
              </a:rPr>
              <a:t>DQN &amp; Atari (DeepMind, 2013)</a:t>
            </a:r>
          </a:p>
        </p:txBody>
      </p:sp>
      <p:sp>
        <p:nvSpPr>
          <p:cNvPr id="8" name="TextBox 7"/>
          <p:cNvSpPr txBox="1"/>
          <p:nvPr/>
        </p:nvSpPr>
        <p:spPr>
          <a:xfrm>
            <a:off x="822960" y="2496312"/>
            <a:ext cx="5029200" cy="1325880"/>
          </a:xfrm>
          <a:prstGeom prst="rect">
            <a:avLst/>
          </a:prstGeom>
          <a:noFill/>
        </p:spPr>
        <p:txBody>
          <a:bodyPr wrap="square">
            <a:spAutoFit/>
          </a:bodyPr>
          <a:lstStyle/>
          <a:p>
            <a:pPr algn="l"/>
            <a:r>
              <a:rPr sz="1000" b="0" i="0">
                <a:solidFill>
                  <a:srgbClr val="8892B0"/>
                </a:solidFill>
              </a:rPr>
              <a:t>Deep Q-Networks learn reactive policies directly from pixels — latent representations begin capturing game dynamics.</a:t>
            </a:r>
          </a:p>
        </p:txBody>
      </p:sp>
      <p:sp>
        <p:nvSpPr>
          <p:cNvPr id="9" name="Rectangle 8"/>
          <p:cNvSpPr/>
          <p:nvPr/>
        </p:nvSpPr>
        <p:spPr>
          <a:xfrm>
            <a:off x="6263640" y="1691640"/>
            <a:ext cx="5394960" cy="224028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457200" cy="411480"/>
          </a:xfrm>
          <a:prstGeom prst="rect">
            <a:avLst/>
          </a:prstGeom>
          <a:noFill/>
        </p:spPr>
        <p:txBody>
          <a:bodyPr wrap="square">
            <a:spAutoFit/>
          </a:bodyPr>
          <a:lstStyle/>
          <a:p>
            <a:pPr algn="l"/>
            <a:r>
              <a:rPr sz="2000" b="0" i="0">
                <a:solidFill>
                  <a:srgbClr val="FFFFFF"/>
                </a:solidFill>
              </a:rPr>
              <a:t>🌀</a:t>
            </a:r>
          </a:p>
        </p:txBody>
      </p:sp>
      <p:sp>
        <p:nvSpPr>
          <p:cNvPr id="11" name="TextBox 10"/>
          <p:cNvSpPr txBox="1"/>
          <p:nvPr/>
        </p:nvSpPr>
        <p:spPr>
          <a:xfrm>
            <a:off x="6446520" y="2194560"/>
            <a:ext cx="5029200" cy="320040"/>
          </a:xfrm>
          <a:prstGeom prst="rect">
            <a:avLst/>
          </a:prstGeom>
          <a:noFill/>
        </p:spPr>
        <p:txBody>
          <a:bodyPr wrap="square">
            <a:spAutoFit/>
          </a:bodyPr>
          <a:lstStyle/>
          <a:p>
            <a:pPr algn="l"/>
            <a:r>
              <a:rPr sz="1200" b="1" i="0">
                <a:solidFill>
                  <a:srgbClr val="C5CEFF"/>
                </a:solidFill>
              </a:rPr>
              <a:t>Variational Autoencoders (2013)</a:t>
            </a:r>
          </a:p>
        </p:txBody>
      </p:sp>
      <p:sp>
        <p:nvSpPr>
          <p:cNvPr id="12" name="TextBox 11"/>
          <p:cNvSpPr txBox="1"/>
          <p:nvPr/>
        </p:nvSpPr>
        <p:spPr>
          <a:xfrm>
            <a:off x="6446520" y="2496312"/>
            <a:ext cx="5029200" cy="1325880"/>
          </a:xfrm>
          <a:prstGeom prst="rect">
            <a:avLst/>
          </a:prstGeom>
          <a:noFill/>
        </p:spPr>
        <p:txBody>
          <a:bodyPr wrap="square">
            <a:spAutoFit/>
          </a:bodyPr>
          <a:lstStyle/>
          <a:p>
            <a:pPr algn="l"/>
            <a:r>
              <a:rPr sz="1000" b="0" i="0">
                <a:solidFill>
                  <a:srgbClr val="8892B0"/>
                </a:solidFill>
              </a:rPr>
              <a:t>VAEs learn compact, continuous latent spaces — a structural precursor to learned world state representations.</a:t>
            </a:r>
          </a:p>
        </p:txBody>
      </p:sp>
      <p:sp>
        <p:nvSpPr>
          <p:cNvPr id="13" name="Rectangle 12"/>
          <p:cNvSpPr/>
          <p:nvPr/>
        </p:nvSpPr>
        <p:spPr>
          <a:xfrm>
            <a:off x="640080" y="4114800"/>
            <a:ext cx="5394960" cy="224028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251960"/>
            <a:ext cx="457200" cy="411480"/>
          </a:xfrm>
          <a:prstGeom prst="rect">
            <a:avLst/>
          </a:prstGeom>
          <a:noFill/>
        </p:spPr>
        <p:txBody>
          <a:bodyPr wrap="square">
            <a:spAutoFit/>
          </a:bodyPr>
          <a:lstStyle/>
          <a:p>
            <a:pPr algn="l"/>
            <a:r>
              <a:rPr sz="2000" b="0" i="0">
                <a:solidFill>
                  <a:srgbClr val="FFFFFF"/>
                </a:solidFill>
              </a:rPr>
              <a:t>📽️</a:t>
            </a:r>
          </a:p>
        </p:txBody>
      </p:sp>
      <p:sp>
        <p:nvSpPr>
          <p:cNvPr id="15" name="TextBox 14"/>
          <p:cNvSpPr txBox="1"/>
          <p:nvPr/>
        </p:nvSpPr>
        <p:spPr>
          <a:xfrm>
            <a:off x="822960" y="4617720"/>
            <a:ext cx="5029200" cy="320040"/>
          </a:xfrm>
          <a:prstGeom prst="rect">
            <a:avLst/>
          </a:prstGeom>
          <a:noFill/>
        </p:spPr>
        <p:txBody>
          <a:bodyPr wrap="square">
            <a:spAutoFit/>
          </a:bodyPr>
          <a:lstStyle/>
          <a:p>
            <a:pPr algn="l"/>
            <a:r>
              <a:rPr sz="1200" b="1" i="0">
                <a:solidFill>
                  <a:srgbClr val="C5CEFF"/>
                </a:solidFill>
              </a:rPr>
              <a:t>Video Prediction Models (2015–17)</a:t>
            </a:r>
          </a:p>
        </p:txBody>
      </p:sp>
      <p:sp>
        <p:nvSpPr>
          <p:cNvPr id="16" name="TextBox 15"/>
          <p:cNvSpPr txBox="1"/>
          <p:nvPr/>
        </p:nvSpPr>
        <p:spPr>
          <a:xfrm>
            <a:off x="822960" y="4919472"/>
            <a:ext cx="5029200" cy="1325880"/>
          </a:xfrm>
          <a:prstGeom prst="rect">
            <a:avLst/>
          </a:prstGeom>
          <a:noFill/>
        </p:spPr>
        <p:txBody>
          <a:bodyPr wrap="square">
            <a:spAutoFit/>
          </a:bodyPr>
          <a:lstStyle/>
          <a:p>
            <a:pPr algn="l"/>
            <a:r>
              <a:rPr sz="1000" b="0" i="0">
                <a:solidFill>
                  <a:srgbClr val="8892B0"/>
                </a:solidFill>
              </a:rPr>
              <a:t>Models like PredNet and Action-Conditioned Video Prediction learn to simulate environment frames forward in time.</a:t>
            </a:r>
          </a:p>
        </p:txBody>
      </p:sp>
      <p:sp>
        <p:nvSpPr>
          <p:cNvPr id="17" name="Rectangle 16"/>
          <p:cNvSpPr/>
          <p:nvPr/>
        </p:nvSpPr>
        <p:spPr>
          <a:xfrm>
            <a:off x="6263640" y="4114800"/>
            <a:ext cx="5394960" cy="224028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251960"/>
            <a:ext cx="457200" cy="411480"/>
          </a:xfrm>
          <a:prstGeom prst="rect">
            <a:avLst/>
          </a:prstGeom>
          <a:noFill/>
        </p:spPr>
        <p:txBody>
          <a:bodyPr wrap="square">
            <a:spAutoFit/>
          </a:bodyPr>
          <a:lstStyle/>
          <a:p>
            <a:pPr algn="l"/>
            <a:r>
              <a:rPr sz="2000" b="0" i="0">
                <a:solidFill>
                  <a:srgbClr val="FFFFFF"/>
                </a:solidFill>
              </a:rPr>
              <a:t>🤖</a:t>
            </a:r>
          </a:p>
        </p:txBody>
      </p:sp>
      <p:sp>
        <p:nvSpPr>
          <p:cNvPr id="19" name="TextBox 18"/>
          <p:cNvSpPr txBox="1"/>
          <p:nvPr/>
        </p:nvSpPr>
        <p:spPr>
          <a:xfrm>
            <a:off x="6446520" y="4617720"/>
            <a:ext cx="5029200" cy="320040"/>
          </a:xfrm>
          <a:prstGeom prst="rect">
            <a:avLst/>
          </a:prstGeom>
          <a:noFill/>
        </p:spPr>
        <p:txBody>
          <a:bodyPr wrap="square">
            <a:spAutoFit/>
          </a:bodyPr>
          <a:lstStyle/>
          <a:p>
            <a:pPr algn="l"/>
            <a:r>
              <a:rPr sz="1200" b="1" i="0">
                <a:solidFill>
                  <a:srgbClr val="C5CEFF"/>
                </a:solidFill>
              </a:rPr>
              <a:t>World Models Paper (Ha &amp; Schmidhuber, 2018)</a:t>
            </a:r>
          </a:p>
        </p:txBody>
      </p:sp>
      <p:sp>
        <p:nvSpPr>
          <p:cNvPr id="20" name="TextBox 19"/>
          <p:cNvSpPr txBox="1"/>
          <p:nvPr/>
        </p:nvSpPr>
        <p:spPr>
          <a:xfrm>
            <a:off x="6446520" y="4919472"/>
            <a:ext cx="5029200" cy="1325880"/>
          </a:xfrm>
          <a:prstGeom prst="rect">
            <a:avLst/>
          </a:prstGeom>
          <a:noFill/>
        </p:spPr>
        <p:txBody>
          <a:bodyPr wrap="square">
            <a:spAutoFit/>
          </a:bodyPr>
          <a:lstStyle/>
          <a:p>
            <a:pPr algn="l"/>
            <a:r>
              <a:rPr sz="1000" b="0" i="0">
                <a:solidFill>
                  <a:srgbClr val="8892B0"/>
                </a:solidFill>
              </a:rPr>
              <a:t>Landmark work: a VAE + MDN-RNN model allows an agent to train entirely inside its own dream of the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MILESTONE</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Ha &amp; Schmidhuber — "World Models" (2018)</a:t>
            </a:r>
          </a:p>
        </p:txBody>
      </p:sp>
      <p:sp>
        <p:nvSpPr>
          <p:cNvPr id="5" name="TextBox 4"/>
          <p:cNvSpPr txBox="1"/>
          <p:nvPr/>
        </p:nvSpPr>
        <p:spPr>
          <a:xfrm>
            <a:off x="640080" y="1600200"/>
            <a:ext cx="10881360" cy="365760"/>
          </a:xfrm>
          <a:prstGeom prst="rect">
            <a:avLst/>
          </a:prstGeom>
          <a:noFill/>
        </p:spPr>
        <p:txBody>
          <a:bodyPr wrap="square">
            <a:spAutoFit/>
          </a:bodyPr>
          <a:lstStyle/>
          <a:p>
            <a:pPr algn="l"/>
            <a:r>
              <a:rPr sz="1200" b="0" i="0">
                <a:solidFill>
                  <a:srgbClr val="B0BEC5"/>
                </a:solidFill>
              </a:rPr>
              <a:t>Three-component architecture that became the canonical blueprint for learned world models:</a:t>
            </a:r>
          </a:p>
        </p:txBody>
      </p:sp>
      <p:sp>
        <p:nvSpPr>
          <p:cNvPr id="6" name="Rectangle 5"/>
          <p:cNvSpPr/>
          <p:nvPr/>
        </p:nvSpPr>
        <p:spPr>
          <a:xfrm>
            <a:off x="640080" y="2103120"/>
            <a:ext cx="3474720" cy="256032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40280"/>
            <a:ext cx="457200" cy="411480"/>
          </a:xfrm>
          <a:prstGeom prst="rect">
            <a:avLst/>
          </a:prstGeom>
          <a:noFill/>
        </p:spPr>
        <p:txBody>
          <a:bodyPr wrap="square">
            <a:spAutoFit/>
          </a:bodyPr>
          <a:lstStyle/>
          <a:p>
            <a:pPr algn="l"/>
            <a:r>
              <a:rPr sz="2000" b="0" i="0">
                <a:solidFill>
                  <a:srgbClr val="FFFFFF"/>
                </a:solidFill>
              </a:rPr>
              <a:t>👁️</a:t>
            </a:r>
          </a:p>
        </p:txBody>
      </p:sp>
      <p:sp>
        <p:nvSpPr>
          <p:cNvPr id="8" name="TextBox 7"/>
          <p:cNvSpPr txBox="1"/>
          <p:nvPr/>
        </p:nvSpPr>
        <p:spPr>
          <a:xfrm>
            <a:off x="822960" y="2606040"/>
            <a:ext cx="3108960" cy="320040"/>
          </a:xfrm>
          <a:prstGeom prst="rect">
            <a:avLst/>
          </a:prstGeom>
          <a:noFill/>
        </p:spPr>
        <p:txBody>
          <a:bodyPr wrap="square">
            <a:spAutoFit/>
          </a:bodyPr>
          <a:lstStyle/>
          <a:p>
            <a:pPr algn="l"/>
            <a:r>
              <a:rPr sz="1200" b="1" i="0">
                <a:solidFill>
                  <a:srgbClr val="C5CEFF"/>
                </a:solidFill>
              </a:rPr>
              <a:t>V — Visual Model</a:t>
            </a:r>
          </a:p>
        </p:txBody>
      </p:sp>
      <p:sp>
        <p:nvSpPr>
          <p:cNvPr id="9" name="TextBox 8"/>
          <p:cNvSpPr txBox="1"/>
          <p:nvPr/>
        </p:nvSpPr>
        <p:spPr>
          <a:xfrm>
            <a:off x="822960" y="2907792"/>
            <a:ext cx="3108960" cy="1645920"/>
          </a:xfrm>
          <a:prstGeom prst="rect">
            <a:avLst/>
          </a:prstGeom>
          <a:noFill/>
        </p:spPr>
        <p:txBody>
          <a:bodyPr wrap="square">
            <a:spAutoFit/>
          </a:bodyPr>
          <a:lstStyle/>
          <a:p>
            <a:pPr algn="l"/>
            <a:r>
              <a:rPr sz="1000" b="0" i="0">
                <a:solidFill>
                  <a:srgbClr val="8892B0"/>
                </a:solidFill>
              </a:rPr>
              <a:t>A VAE compresses each frame into a small latent vector z, capturing essential visual structure.</a:t>
            </a:r>
          </a:p>
        </p:txBody>
      </p:sp>
      <p:sp>
        <p:nvSpPr>
          <p:cNvPr id="10" name="Rectangle 9"/>
          <p:cNvSpPr/>
          <p:nvPr/>
        </p:nvSpPr>
        <p:spPr>
          <a:xfrm>
            <a:off x="4343400" y="2103120"/>
            <a:ext cx="3474720" cy="256032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2240280"/>
            <a:ext cx="457200" cy="411480"/>
          </a:xfrm>
          <a:prstGeom prst="rect">
            <a:avLst/>
          </a:prstGeom>
          <a:noFill/>
        </p:spPr>
        <p:txBody>
          <a:bodyPr wrap="square">
            <a:spAutoFit/>
          </a:bodyPr>
          <a:lstStyle/>
          <a:p>
            <a:pPr algn="l"/>
            <a:r>
              <a:rPr sz="2000" b="0" i="0">
                <a:solidFill>
                  <a:srgbClr val="FFFFFF"/>
                </a:solidFill>
              </a:rPr>
              <a:t>💭</a:t>
            </a:r>
          </a:p>
        </p:txBody>
      </p:sp>
      <p:sp>
        <p:nvSpPr>
          <p:cNvPr id="12" name="TextBox 11"/>
          <p:cNvSpPr txBox="1"/>
          <p:nvPr/>
        </p:nvSpPr>
        <p:spPr>
          <a:xfrm>
            <a:off x="4526280" y="2606040"/>
            <a:ext cx="3108960" cy="320040"/>
          </a:xfrm>
          <a:prstGeom prst="rect">
            <a:avLst/>
          </a:prstGeom>
          <a:noFill/>
        </p:spPr>
        <p:txBody>
          <a:bodyPr wrap="square">
            <a:spAutoFit/>
          </a:bodyPr>
          <a:lstStyle/>
          <a:p>
            <a:pPr algn="l"/>
            <a:r>
              <a:rPr sz="1200" b="1" i="0">
                <a:solidFill>
                  <a:srgbClr val="C5CEFF"/>
                </a:solidFill>
              </a:rPr>
              <a:t>M — Memory (MDN-RNN)</a:t>
            </a:r>
          </a:p>
        </p:txBody>
      </p:sp>
      <p:sp>
        <p:nvSpPr>
          <p:cNvPr id="13" name="TextBox 12"/>
          <p:cNvSpPr txBox="1"/>
          <p:nvPr/>
        </p:nvSpPr>
        <p:spPr>
          <a:xfrm>
            <a:off x="4526280" y="2907792"/>
            <a:ext cx="3108960" cy="1645920"/>
          </a:xfrm>
          <a:prstGeom prst="rect">
            <a:avLst/>
          </a:prstGeom>
          <a:noFill/>
        </p:spPr>
        <p:txBody>
          <a:bodyPr wrap="square">
            <a:spAutoFit/>
          </a:bodyPr>
          <a:lstStyle/>
          <a:p>
            <a:pPr algn="l"/>
            <a:r>
              <a:rPr sz="1000" b="0" i="0">
                <a:solidFill>
                  <a:srgbClr val="8892B0"/>
                </a:solidFill>
              </a:rPr>
              <a:t>A recurrent network predicts the future latent state distribution, modeling temporal dynamics.</a:t>
            </a:r>
          </a:p>
        </p:txBody>
      </p:sp>
      <p:sp>
        <p:nvSpPr>
          <p:cNvPr id="14" name="Rectangle 13"/>
          <p:cNvSpPr/>
          <p:nvPr/>
        </p:nvSpPr>
        <p:spPr>
          <a:xfrm>
            <a:off x="8046720" y="2103120"/>
            <a:ext cx="3474720" cy="256032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240280"/>
            <a:ext cx="457200" cy="411480"/>
          </a:xfrm>
          <a:prstGeom prst="rect">
            <a:avLst/>
          </a:prstGeom>
          <a:noFill/>
        </p:spPr>
        <p:txBody>
          <a:bodyPr wrap="square">
            <a:spAutoFit/>
          </a:bodyPr>
          <a:lstStyle/>
          <a:p>
            <a:pPr algn="l"/>
            <a:r>
              <a:rPr sz="2000" b="0" i="0">
                <a:solidFill>
                  <a:srgbClr val="FFFFFF"/>
                </a:solidFill>
              </a:rPr>
              <a:t>🎮</a:t>
            </a:r>
          </a:p>
        </p:txBody>
      </p:sp>
      <p:sp>
        <p:nvSpPr>
          <p:cNvPr id="16" name="TextBox 15"/>
          <p:cNvSpPr txBox="1"/>
          <p:nvPr/>
        </p:nvSpPr>
        <p:spPr>
          <a:xfrm>
            <a:off x="8229600" y="2606040"/>
            <a:ext cx="3108960" cy="320040"/>
          </a:xfrm>
          <a:prstGeom prst="rect">
            <a:avLst/>
          </a:prstGeom>
          <a:noFill/>
        </p:spPr>
        <p:txBody>
          <a:bodyPr wrap="square">
            <a:spAutoFit/>
          </a:bodyPr>
          <a:lstStyle/>
          <a:p>
            <a:pPr algn="l"/>
            <a:r>
              <a:rPr sz="1200" b="1" i="0">
                <a:solidFill>
                  <a:srgbClr val="C5CEFF"/>
                </a:solidFill>
              </a:rPr>
              <a:t>C — Controller</a:t>
            </a:r>
          </a:p>
        </p:txBody>
      </p:sp>
      <p:sp>
        <p:nvSpPr>
          <p:cNvPr id="17" name="TextBox 16"/>
          <p:cNvSpPr txBox="1"/>
          <p:nvPr/>
        </p:nvSpPr>
        <p:spPr>
          <a:xfrm>
            <a:off x="8229600" y="2907792"/>
            <a:ext cx="3108960" cy="1645920"/>
          </a:xfrm>
          <a:prstGeom prst="rect">
            <a:avLst/>
          </a:prstGeom>
          <a:noFill/>
        </p:spPr>
        <p:txBody>
          <a:bodyPr wrap="square">
            <a:spAutoFit/>
          </a:bodyPr>
          <a:lstStyle/>
          <a:p>
            <a:pPr algn="l"/>
            <a:r>
              <a:rPr sz="1000" b="0" i="0">
                <a:solidFill>
                  <a:srgbClr val="8892B0"/>
                </a:solidFill>
              </a:rPr>
              <a:t>A compact linear model maps (z, h) → action. The agent can train entirely in the dream world.</a:t>
            </a:r>
          </a:p>
        </p:txBody>
      </p:sp>
      <p:sp>
        <p:nvSpPr>
          <p:cNvPr id="18" name="TextBox 17"/>
          <p:cNvSpPr txBox="1"/>
          <p:nvPr/>
        </p:nvSpPr>
        <p:spPr>
          <a:xfrm>
            <a:off x="640080" y="4937760"/>
            <a:ext cx="3200400" cy="685800"/>
          </a:xfrm>
          <a:prstGeom prst="rect">
            <a:avLst/>
          </a:prstGeom>
          <a:noFill/>
        </p:spPr>
        <p:txBody>
          <a:bodyPr wrap="square">
            <a:spAutoFit/>
          </a:bodyPr>
          <a:lstStyle/>
          <a:p>
            <a:pPr algn="l"/>
            <a:r>
              <a:rPr sz="3400" b="1" i="0">
                <a:solidFill>
                  <a:srgbClr val="6B7AFF"/>
                </a:solidFill>
              </a:rPr>
              <a:t>1st</a:t>
            </a:r>
          </a:p>
        </p:txBody>
      </p:sp>
      <p:sp>
        <p:nvSpPr>
          <p:cNvPr id="19" name="TextBox 18"/>
          <p:cNvSpPr txBox="1"/>
          <p:nvPr/>
        </p:nvSpPr>
        <p:spPr>
          <a:xfrm>
            <a:off x="640080" y="5577840"/>
            <a:ext cx="3200400" cy="365760"/>
          </a:xfrm>
          <a:prstGeom prst="rect">
            <a:avLst/>
          </a:prstGeom>
          <a:noFill/>
        </p:spPr>
        <p:txBody>
          <a:bodyPr wrap="square">
            <a:spAutoFit/>
          </a:bodyPr>
          <a:lstStyle/>
          <a:p>
            <a:pPr algn="l"/>
            <a:r>
              <a:rPr sz="900" b="0" i="0">
                <a:solidFill>
                  <a:srgbClr val="404560"/>
                </a:solidFill>
              </a:rPr>
              <a:t>AGENT TRAINED IN DREAM</a:t>
            </a:r>
          </a:p>
        </p:txBody>
      </p:sp>
      <p:sp>
        <p:nvSpPr>
          <p:cNvPr id="20" name="TextBox 19"/>
          <p:cNvSpPr txBox="1"/>
          <p:nvPr/>
        </p:nvSpPr>
        <p:spPr>
          <a:xfrm>
            <a:off x="4297680" y="4937760"/>
            <a:ext cx="3200400" cy="685800"/>
          </a:xfrm>
          <a:prstGeom prst="rect">
            <a:avLst/>
          </a:prstGeom>
          <a:noFill/>
        </p:spPr>
        <p:txBody>
          <a:bodyPr wrap="square">
            <a:spAutoFit/>
          </a:bodyPr>
          <a:lstStyle/>
          <a:p>
            <a:pPr algn="l"/>
            <a:r>
              <a:rPr sz="3400" b="1" i="0">
                <a:solidFill>
                  <a:srgbClr val="6B7AFF"/>
                </a:solidFill>
              </a:rPr>
              <a:t>900+</a:t>
            </a:r>
          </a:p>
        </p:txBody>
      </p:sp>
      <p:sp>
        <p:nvSpPr>
          <p:cNvPr id="21" name="TextBox 20"/>
          <p:cNvSpPr txBox="1"/>
          <p:nvPr/>
        </p:nvSpPr>
        <p:spPr>
          <a:xfrm>
            <a:off x="4297680" y="5577840"/>
            <a:ext cx="3200400" cy="365760"/>
          </a:xfrm>
          <a:prstGeom prst="rect">
            <a:avLst/>
          </a:prstGeom>
          <a:noFill/>
        </p:spPr>
        <p:txBody>
          <a:bodyPr wrap="square">
            <a:spAutoFit/>
          </a:bodyPr>
          <a:lstStyle/>
          <a:p>
            <a:pPr algn="l"/>
            <a:r>
              <a:rPr sz="900" b="0" i="0">
                <a:solidFill>
                  <a:srgbClr val="404560"/>
                </a:solidFill>
              </a:rPr>
              <a:t>CITATIONS</a:t>
            </a:r>
          </a:p>
        </p:txBody>
      </p:sp>
      <p:sp>
        <p:nvSpPr>
          <p:cNvPr id="22" name="TextBox 21"/>
          <p:cNvSpPr txBox="1"/>
          <p:nvPr/>
        </p:nvSpPr>
        <p:spPr>
          <a:xfrm>
            <a:off x="7955280" y="4937760"/>
            <a:ext cx="3200400" cy="685800"/>
          </a:xfrm>
          <a:prstGeom prst="rect">
            <a:avLst/>
          </a:prstGeom>
          <a:noFill/>
        </p:spPr>
        <p:txBody>
          <a:bodyPr wrap="square">
            <a:spAutoFit/>
          </a:bodyPr>
          <a:lstStyle/>
          <a:p>
            <a:pPr algn="l"/>
            <a:r>
              <a:rPr sz="3400" b="1" i="0">
                <a:solidFill>
                  <a:srgbClr val="6B7AFF"/>
                </a:solidFill>
              </a:rPr>
              <a:t>3</a:t>
            </a:r>
          </a:p>
        </p:txBody>
      </p:sp>
      <p:sp>
        <p:nvSpPr>
          <p:cNvPr id="23" name="TextBox 22"/>
          <p:cNvSpPr txBox="1"/>
          <p:nvPr/>
        </p:nvSpPr>
        <p:spPr>
          <a:xfrm>
            <a:off x="7955280" y="5577840"/>
            <a:ext cx="3200400" cy="365760"/>
          </a:xfrm>
          <a:prstGeom prst="rect">
            <a:avLst/>
          </a:prstGeom>
          <a:noFill/>
        </p:spPr>
        <p:txBody>
          <a:bodyPr wrap="square">
            <a:spAutoFit/>
          </a:bodyPr>
          <a:lstStyle/>
          <a:p>
            <a:pPr algn="l"/>
            <a:r>
              <a:rPr sz="900" b="0" i="0">
                <a:solidFill>
                  <a:srgbClr val="404560"/>
                </a:solidFill>
              </a:rPr>
              <a:t>MODULAR COMPONENTS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ERA 3 · 2019 – 2021</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Latent Imagination &amp; Dreamer</a:t>
            </a:r>
          </a:p>
        </p:txBody>
      </p:sp>
      <p:sp>
        <p:nvSpPr>
          <p:cNvPr id="5" name="TextBox 4"/>
          <p:cNvSpPr txBox="1"/>
          <p:nvPr/>
        </p:nvSpPr>
        <p:spPr>
          <a:xfrm>
            <a:off x="640080" y="1600200"/>
            <a:ext cx="10881360" cy="548640"/>
          </a:xfrm>
          <a:prstGeom prst="rect">
            <a:avLst/>
          </a:prstGeom>
          <a:noFill/>
        </p:spPr>
        <p:txBody>
          <a:bodyPr wrap="square">
            <a:spAutoFit/>
          </a:bodyPr>
          <a:lstStyle/>
          <a:p>
            <a:pPr algn="l"/>
            <a:r>
              <a:rPr sz="1200" b="0" i="0">
                <a:solidFill>
                  <a:srgbClr val="B0BEC5"/>
                </a:solidFill>
              </a:rPr>
              <a:t>DeepMind's Dreamer series unified model learning and policy optimization entirely inside a learned latent space, achieving state-of-the-art sample efficiency.</a:t>
            </a:r>
          </a:p>
        </p:txBody>
      </p:sp>
      <p:sp>
        <p:nvSpPr>
          <p:cNvPr id="6" name="Rectangle 5"/>
          <p:cNvSpPr/>
          <p:nvPr/>
        </p:nvSpPr>
        <p:spPr>
          <a:xfrm>
            <a:off x="640080" y="2377440"/>
            <a:ext cx="3474720" cy="329184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14600"/>
            <a:ext cx="457200" cy="411480"/>
          </a:xfrm>
          <a:prstGeom prst="rect">
            <a:avLst/>
          </a:prstGeom>
          <a:noFill/>
        </p:spPr>
        <p:txBody>
          <a:bodyPr wrap="square">
            <a:spAutoFit/>
          </a:bodyPr>
          <a:lstStyle/>
          <a:p>
            <a:pPr algn="l"/>
            <a:r>
              <a:rPr sz="2000" b="0" i="0">
                <a:solidFill>
                  <a:srgbClr val="FFFFFF"/>
                </a:solidFill>
              </a:rPr>
              <a:t>💡</a:t>
            </a:r>
          </a:p>
        </p:txBody>
      </p:sp>
      <p:sp>
        <p:nvSpPr>
          <p:cNvPr id="8" name="TextBox 7"/>
          <p:cNvSpPr txBox="1"/>
          <p:nvPr/>
        </p:nvSpPr>
        <p:spPr>
          <a:xfrm>
            <a:off x="822960" y="2880360"/>
            <a:ext cx="3108960" cy="320040"/>
          </a:xfrm>
          <a:prstGeom prst="rect">
            <a:avLst/>
          </a:prstGeom>
          <a:noFill/>
        </p:spPr>
        <p:txBody>
          <a:bodyPr wrap="square">
            <a:spAutoFit/>
          </a:bodyPr>
          <a:lstStyle/>
          <a:p>
            <a:pPr algn="l"/>
            <a:r>
              <a:rPr sz="1200" b="1" i="0">
                <a:solidFill>
                  <a:srgbClr val="C5CEFF"/>
                </a:solidFill>
              </a:rPr>
              <a:t>DreamerV1 (2019)</a:t>
            </a:r>
          </a:p>
        </p:txBody>
      </p:sp>
      <p:sp>
        <p:nvSpPr>
          <p:cNvPr id="9" name="TextBox 8"/>
          <p:cNvSpPr txBox="1"/>
          <p:nvPr/>
        </p:nvSpPr>
        <p:spPr>
          <a:xfrm>
            <a:off x="822960" y="3182112"/>
            <a:ext cx="3108960" cy="2377440"/>
          </a:xfrm>
          <a:prstGeom prst="rect">
            <a:avLst/>
          </a:prstGeom>
          <a:noFill/>
        </p:spPr>
        <p:txBody>
          <a:bodyPr wrap="square">
            <a:spAutoFit/>
          </a:bodyPr>
          <a:lstStyle/>
          <a:p>
            <a:pPr algn="l"/>
            <a:r>
              <a:rPr sz="1000" b="0" i="0">
                <a:solidFill>
                  <a:srgbClr val="8892B0"/>
                </a:solidFill>
              </a:rPr>
              <a:t>RSSM latent model + value/actor trained on imagined rollouts. Beats model-free baselines on 20 Atari games with 5× less data.</a:t>
            </a:r>
          </a:p>
        </p:txBody>
      </p:sp>
      <p:sp>
        <p:nvSpPr>
          <p:cNvPr id="10" name="Rectangle 9"/>
          <p:cNvSpPr/>
          <p:nvPr/>
        </p:nvSpPr>
        <p:spPr>
          <a:xfrm>
            <a:off x="4343400" y="2377440"/>
            <a:ext cx="3474720" cy="329184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2514600"/>
            <a:ext cx="457200" cy="411480"/>
          </a:xfrm>
          <a:prstGeom prst="rect">
            <a:avLst/>
          </a:prstGeom>
          <a:noFill/>
        </p:spPr>
        <p:txBody>
          <a:bodyPr wrap="square">
            <a:spAutoFit/>
          </a:bodyPr>
          <a:lstStyle/>
          <a:p>
            <a:pPr algn="l"/>
            <a:r>
              <a:rPr sz="2000" b="0" i="0">
                <a:solidFill>
                  <a:srgbClr val="FFFFFF"/>
                </a:solidFill>
              </a:rPr>
              <a:t>🚀</a:t>
            </a:r>
          </a:p>
        </p:txBody>
      </p:sp>
      <p:sp>
        <p:nvSpPr>
          <p:cNvPr id="12" name="TextBox 11"/>
          <p:cNvSpPr txBox="1"/>
          <p:nvPr/>
        </p:nvSpPr>
        <p:spPr>
          <a:xfrm>
            <a:off x="4526280" y="2880360"/>
            <a:ext cx="3108960" cy="320040"/>
          </a:xfrm>
          <a:prstGeom prst="rect">
            <a:avLst/>
          </a:prstGeom>
          <a:noFill/>
        </p:spPr>
        <p:txBody>
          <a:bodyPr wrap="square">
            <a:spAutoFit/>
          </a:bodyPr>
          <a:lstStyle/>
          <a:p>
            <a:pPr algn="l"/>
            <a:r>
              <a:rPr sz="1200" b="1" i="0">
                <a:solidFill>
                  <a:srgbClr val="C5CEFF"/>
                </a:solidFill>
              </a:rPr>
              <a:t>DreamerV2 (2020)</a:t>
            </a:r>
          </a:p>
        </p:txBody>
      </p:sp>
      <p:sp>
        <p:nvSpPr>
          <p:cNvPr id="13" name="TextBox 12"/>
          <p:cNvSpPr txBox="1"/>
          <p:nvPr/>
        </p:nvSpPr>
        <p:spPr>
          <a:xfrm>
            <a:off x="4526280" y="3182112"/>
            <a:ext cx="3108960" cy="2377440"/>
          </a:xfrm>
          <a:prstGeom prst="rect">
            <a:avLst/>
          </a:prstGeom>
          <a:noFill/>
        </p:spPr>
        <p:txBody>
          <a:bodyPr wrap="square">
            <a:spAutoFit/>
          </a:bodyPr>
          <a:lstStyle/>
          <a:p>
            <a:pPr algn="l"/>
            <a:r>
              <a:rPr sz="1000" b="0" i="0">
                <a:solidFill>
                  <a:srgbClr val="8892B0"/>
                </a:solidFill>
              </a:rPr>
              <a:t>Discrete latent representations (categorical VAE) dramatically improve stability. Matches human-level Atari performance.</a:t>
            </a:r>
          </a:p>
        </p:txBody>
      </p:sp>
      <p:sp>
        <p:nvSpPr>
          <p:cNvPr id="14" name="Rectangle 13"/>
          <p:cNvSpPr/>
          <p:nvPr/>
        </p:nvSpPr>
        <p:spPr>
          <a:xfrm>
            <a:off x="8046720" y="2377440"/>
            <a:ext cx="3474720" cy="329184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514600"/>
            <a:ext cx="457200" cy="411480"/>
          </a:xfrm>
          <a:prstGeom prst="rect">
            <a:avLst/>
          </a:prstGeom>
          <a:noFill/>
        </p:spPr>
        <p:txBody>
          <a:bodyPr wrap="square">
            <a:spAutoFit/>
          </a:bodyPr>
          <a:lstStyle/>
          <a:p>
            <a:pPr algn="l"/>
            <a:r>
              <a:rPr sz="2000" b="0" i="0">
                <a:solidFill>
                  <a:srgbClr val="FFFFFF"/>
                </a:solidFill>
              </a:rPr>
              <a:t>🌍</a:t>
            </a:r>
          </a:p>
        </p:txBody>
      </p:sp>
      <p:sp>
        <p:nvSpPr>
          <p:cNvPr id="16" name="TextBox 15"/>
          <p:cNvSpPr txBox="1"/>
          <p:nvPr/>
        </p:nvSpPr>
        <p:spPr>
          <a:xfrm>
            <a:off x="8229600" y="2880360"/>
            <a:ext cx="3108960" cy="320040"/>
          </a:xfrm>
          <a:prstGeom prst="rect">
            <a:avLst/>
          </a:prstGeom>
          <a:noFill/>
        </p:spPr>
        <p:txBody>
          <a:bodyPr wrap="square">
            <a:spAutoFit/>
          </a:bodyPr>
          <a:lstStyle/>
          <a:p>
            <a:pPr algn="l"/>
            <a:r>
              <a:rPr sz="1200" b="1" i="0">
                <a:solidFill>
                  <a:srgbClr val="C5CEFF"/>
                </a:solidFill>
              </a:rPr>
              <a:t>DreamerV3 (2023)</a:t>
            </a:r>
          </a:p>
        </p:txBody>
      </p:sp>
      <p:sp>
        <p:nvSpPr>
          <p:cNvPr id="17" name="TextBox 16"/>
          <p:cNvSpPr txBox="1"/>
          <p:nvPr/>
        </p:nvSpPr>
        <p:spPr>
          <a:xfrm>
            <a:off x="8229600" y="3182112"/>
            <a:ext cx="3108960" cy="2377440"/>
          </a:xfrm>
          <a:prstGeom prst="rect">
            <a:avLst/>
          </a:prstGeom>
          <a:noFill/>
        </p:spPr>
        <p:txBody>
          <a:bodyPr wrap="square">
            <a:spAutoFit/>
          </a:bodyPr>
          <a:lstStyle/>
          <a:p>
            <a:pPr algn="l"/>
            <a:r>
              <a:rPr sz="1000" b="0" i="0">
                <a:solidFill>
                  <a:srgbClr val="8892B0"/>
                </a:solidFill>
              </a:rPr>
              <a:t>Single hyperparameter set across domains: Atari, continuous control, Minecraft diamond collection — a true general world model agent.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ERA 4 · 2020 – 2023</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Language Models as World Models</a:t>
            </a:r>
          </a:p>
        </p:txBody>
      </p:sp>
      <p:sp>
        <p:nvSpPr>
          <p:cNvPr id="5" name="TextBox 4"/>
          <p:cNvSpPr txBox="1"/>
          <p:nvPr/>
        </p:nvSpPr>
        <p:spPr>
          <a:xfrm>
            <a:off x="640080" y="1600200"/>
            <a:ext cx="10881360" cy="502920"/>
          </a:xfrm>
          <a:prstGeom prst="rect">
            <a:avLst/>
          </a:prstGeom>
          <a:noFill/>
        </p:spPr>
        <p:txBody>
          <a:bodyPr wrap="square">
            <a:spAutoFit/>
          </a:bodyPr>
          <a:lstStyle/>
          <a:p>
            <a:pPr algn="l"/>
            <a:r>
              <a:rPr sz="1200" b="0" i="0">
                <a:solidFill>
                  <a:srgbClr val="B0BEC5"/>
                </a:solidFill>
              </a:rPr>
              <a:t>LLMs trained on internet-scale text encode rich implicit world knowledge — effectively learning a probabilistic world model through next-token prediction.</a:t>
            </a:r>
          </a:p>
        </p:txBody>
      </p:sp>
      <p:sp>
        <p:nvSpPr>
          <p:cNvPr id="6" name="TextBox 5"/>
          <p:cNvSpPr txBox="1"/>
          <p:nvPr/>
        </p:nvSpPr>
        <p:spPr>
          <a:xfrm>
            <a:off x="822960" y="2331720"/>
            <a:ext cx="10332720" cy="411480"/>
          </a:xfrm>
          <a:prstGeom prst="rect">
            <a:avLst/>
          </a:prstGeom>
          <a:noFill/>
        </p:spPr>
        <p:txBody>
          <a:bodyPr wrap="square">
            <a:spAutoFit/>
          </a:bodyPr>
          <a:lstStyle/>
          <a:p>
            <a:pPr algn="l"/>
            <a:r>
              <a:rPr sz="1100" b="0" i="0">
                <a:solidFill>
                  <a:srgbClr val="B0BEC5"/>
                </a:solidFill>
              </a:rPr>
              <a:t>▸  GPT-3 (2020): Demonstrates emergent world knowledge, causal reasoning, and physical intuition from text alone.</a:t>
            </a:r>
          </a:p>
        </p:txBody>
      </p:sp>
      <p:sp>
        <p:nvSpPr>
          <p:cNvPr id="7" name="TextBox 6"/>
          <p:cNvSpPr txBox="1"/>
          <p:nvPr/>
        </p:nvSpPr>
        <p:spPr>
          <a:xfrm>
            <a:off x="822960" y="3090672"/>
            <a:ext cx="10332720" cy="411480"/>
          </a:xfrm>
          <a:prstGeom prst="rect">
            <a:avLst/>
          </a:prstGeom>
          <a:noFill/>
        </p:spPr>
        <p:txBody>
          <a:bodyPr wrap="square">
            <a:spAutoFit/>
          </a:bodyPr>
          <a:lstStyle/>
          <a:p>
            <a:pPr algn="l"/>
            <a:r>
              <a:rPr sz="1100" b="0" i="0">
                <a:solidFill>
                  <a:srgbClr val="B0BEC5"/>
                </a:solidFill>
              </a:rPr>
              <a:t>▸  DALL-E &amp; Imagen (2021–22): Multimodal models learn visual world structure from image–caption pairs at scale.</a:t>
            </a:r>
          </a:p>
        </p:txBody>
      </p:sp>
      <p:sp>
        <p:nvSpPr>
          <p:cNvPr id="8" name="TextBox 7"/>
          <p:cNvSpPr txBox="1"/>
          <p:nvPr/>
        </p:nvSpPr>
        <p:spPr>
          <a:xfrm>
            <a:off x="822960" y="3849624"/>
            <a:ext cx="10332720" cy="411480"/>
          </a:xfrm>
          <a:prstGeom prst="rect">
            <a:avLst/>
          </a:prstGeom>
          <a:noFill/>
        </p:spPr>
        <p:txBody>
          <a:bodyPr wrap="square">
            <a:spAutoFit/>
          </a:bodyPr>
          <a:lstStyle/>
          <a:p>
            <a:pPr algn="l"/>
            <a:r>
              <a:rPr sz="1100" b="0" i="0">
                <a:solidFill>
                  <a:srgbClr val="B0BEC5"/>
                </a:solidFill>
              </a:rPr>
              <a:t>▸  "Language Models are Zero-Shot Reasoners" (2022): Chain-of-thought prompting reveals latent step-by-step simulation.</a:t>
            </a:r>
          </a:p>
        </p:txBody>
      </p:sp>
      <p:sp>
        <p:nvSpPr>
          <p:cNvPr id="9" name="TextBox 8"/>
          <p:cNvSpPr txBox="1"/>
          <p:nvPr/>
        </p:nvSpPr>
        <p:spPr>
          <a:xfrm>
            <a:off x="822960" y="4608576"/>
            <a:ext cx="10332720" cy="411480"/>
          </a:xfrm>
          <a:prstGeom prst="rect">
            <a:avLst/>
          </a:prstGeom>
          <a:noFill/>
        </p:spPr>
        <p:txBody>
          <a:bodyPr wrap="square">
            <a:spAutoFit/>
          </a:bodyPr>
          <a:lstStyle/>
          <a:p>
            <a:pPr algn="l"/>
            <a:r>
              <a:rPr sz="1100" b="0" i="0">
                <a:solidFill>
                  <a:srgbClr val="B0BEC5"/>
                </a:solidFill>
              </a:rPr>
              <a:t>▸  GPT-4 / Claude 2 (2023): Models pass professional exams and solve physics problems — deep world model internalization.</a:t>
            </a:r>
          </a:p>
        </p:txBody>
      </p:sp>
      <p:sp>
        <p:nvSpPr>
          <p:cNvPr id="10" name="TextBox 9"/>
          <p:cNvSpPr txBox="1"/>
          <p:nvPr/>
        </p:nvSpPr>
        <p:spPr>
          <a:xfrm>
            <a:off x="822960" y="5367528"/>
            <a:ext cx="10332720" cy="411480"/>
          </a:xfrm>
          <a:prstGeom prst="rect">
            <a:avLst/>
          </a:prstGeom>
          <a:noFill/>
        </p:spPr>
        <p:txBody>
          <a:bodyPr wrap="square">
            <a:spAutoFit/>
          </a:bodyPr>
          <a:lstStyle/>
          <a:p>
            <a:pPr algn="l"/>
            <a:r>
              <a:rPr sz="1100" b="0" i="0">
                <a:solidFill>
                  <a:srgbClr val="B0BEC5"/>
                </a:solidFill>
              </a:rPr>
              <a:t>▸  Sparks of AGI (Microsoft, 2023): Argues GPT-4 exhibits rudimentary theory of mind and causal world understanding.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ERA 5 · 2023 – 2024</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Multimodal &amp; Embodied World Models</a:t>
            </a:r>
          </a:p>
        </p:txBody>
      </p:sp>
      <p:sp>
        <p:nvSpPr>
          <p:cNvPr id="5" name="Rectangle 4"/>
          <p:cNvSpPr/>
          <p:nvPr/>
        </p:nvSpPr>
        <p:spPr>
          <a:xfrm>
            <a:off x="640080" y="1691640"/>
            <a:ext cx="5394960" cy="224028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457200" cy="411480"/>
          </a:xfrm>
          <a:prstGeom prst="rect">
            <a:avLst/>
          </a:prstGeom>
          <a:noFill/>
        </p:spPr>
        <p:txBody>
          <a:bodyPr wrap="square">
            <a:spAutoFit/>
          </a:bodyPr>
          <a:lstStyle/>
          <a:p>
            <a:pPr algn="l"/>
            <a:r>
              <a:rPr sz="2000" b="0" i="0">
                <a:solidFill>
                  <a:srgbClr val="FFFFFF"/>
                </a:solidFill>
              </a:rPr>
              <a:t>🦾</a:t>
            </a:r>
          </a:p>
        </p:txBody>
      </p:sp>
      <p:sp>
        <p:nvSpPr>
          <p:cNvPr id="7" name="TextBox 6"/>
          <p:cNvSpPr txBox="1"/>
          <p:nvPr/>
        </p:nvSpPr>
        <p:spPr>
          <a:xfrm>
            <a:off x="822960" y="2194560"/>
            <a:ext cx="5029200" cy="320040"/>
          </a:xfrm>
          <a:prstGeom prst="rect">
            <a:avLst/>
          </a:prstGeom>
          <a:noFill/>
        </p:spPr>
        <p:txBody>
          <a:bodyPr wrap="square">
            <a:spAutoFit/>
          </a:bodyPr>
          <a:lstStyle/>
          <a:p>
            <a:pPr algn="l"/>
            <a:r>
              <a:rPr sz="1200" b="1" i="0">
                <a:solidFill>
                  <a:srgbClr val="C5CEFF"/>
                </a:solidFill>
              </a:rPr>
              <a:t>RT-2 / RT-X (Google, 2023)</a:t>
            </a:r>
          </a:p>
        </p:txBody>
      </p:sp>
      <p:sp>
        <p:nvSpPr>
          <p:cNvPr id="8" name="TextBox 7"/>
          <p:cNvSpPr txBox="1"/>
          <p:nvPr/>
        </p:nvSpPr>
        <p:spPr>
          <a:xfrm>
            <a:off x="822960" y="2496312"/>
            <a:ext cx="5029200" cy="1325880"/>
          </a:xfrm>
          <a:prstGeom prst="rect">
            <a:avLst/>
          </a:prstGeom>
          <a:noFill/>
        </p:spPr>
        <p:txBody>
          <a:bodyPr wrap="square">
            <a:spAutoFit/>
          </a:bodyPr>
          <a:lstStyle/>
          <a:p>
            <a:pPr algn="l"/>
            <a:r>
              <a:rPr sz="1000" b="0" i="0">
                <a:solidFill>
                  <a:srgbClr val="8892B0"/>
                </a:solidFill>
              </a:rPr>
              <a:t>Vision-language-action model that transfers internet world knowledge to robotic manipulation.</a:t>
            </a:r>
          </a:p>
        </p:txBody>
      </p:sp>
      <p:sp>
        <p:nvSpPr>
          <p:cNvPr id="9" name="Rectangle 8"/>
          <p:cNvSpPr/>
          <p:nvPr/>
        </p:nvSpPr>
        <p:spPr>
          <a:xfrm>
            <a:off x="6263640" y="1691640"/>
            <a:ext cx="5394960" cy="224028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28800"/>
            <a:ext cx="457200" cy="411480"/>
          </a:xfrm>
          <a:prstGeom prst="rect">
            <a:avLst/>
          </a:prstGeom>
          <a:noFill/>
        </p:spPr>
        <p:txBody>
          <a:bodyPr wrap="square">
            <a:spAutoFit/>
          </a:bodyPr>
          <a:lstStyle/>
          <a:p>
            <a:pPr algn="l"/>
            <a:r>
              <a:rPr sz="2000" b="0" i="0">
                <a:solidFill>
                  <a:srgbClr val="FFFFFF"/>
                </a:solidFill>
              </a:rPr>
              <a:t>🎬</a:t>
            </a:r>
          </a:p>
        </p:txBody>
      </p:sp>
      <p:sp>
        <p:nvSpPr>
          <p:cNvPr id="11" name="TextBox 10"/>
          <p:cNvSpPr txBox="1"/>
          <p:nvPr/>
        </p:nvSpPr>
        <p:spPr>
          <a:xfrm>
            <a:off x="6446520" y="2194560"/>
            <a:ext cx="5029200" cy="320040"/>
          </a:xfrm>
          <a:prstGeom prst="rect">
            <a:avLst/>
          </a:prstGeom>
          <a:noFill/>
        </p:spPr>
        <p:txBody>
          <a:bodyPr wrap="square">
            <a:spAutoFit/>
          </a:bodyPr>
          <a:lstStyle/>
          <a:p>
            <a:pPr algn="l"/>
            <a:r>
              <a:rPr sz="1200" b="1" i="0">
                <a:solidFill>
                  <a:srgbClr val="C5CEFF"/>
                </a:solidFill>
              </a:rPr>
              <a:t>Sora (OpenAI, 2024)</a:t>
            </a:r>
          </a:p>
        </p:txBody>
      </p:sp>
      <p:sp>
        <p:nvSpPr>
          <p:cNvPr id="12" name="TextBox 11"/>
          <p:cNvSpPr txBox="1"/>
          <p:nvPr/>
        </p:nvSpPr>
        <p:spPr>
          <a:xfrm>
            <a:off x="6446520" y="2496312"/>
            <a:ext cx="5029200" cy="1325880"/>
          </a:xfrm>
          <a:prstGeom prst="rect">
            <a:avLst/>
          </a:prstGeom>
          <a:noFill/>
        </p:spPr>
        <p:txBody>
          <a:bodyPr wrap="square">
            <a:spAutoFit/>
          </a:bodyPr>
          <a:lstStyle/>
          <a:p>
            <a:pPr algn="l"/>
            <a:r>
              <a:rPr sz="1000" b="0" i="0">
                <a:solidFill>
                  <a:srgbClr val="8892B0"/>
                </a:solidFill>
              </a:rPr>
              <a:t>Diffusion transformer trained on video generates physically plausible scenes with deep implicit 3D dynamics.</a:t>
            </a:r>
          </a:p>
        </p:txBody>
      </p:sp>
      <p:sp>
        <p:nvSpPr>
          <p:cNvPr id="13" name="Rectangle 12"/>
          <p:cNvSpPr/>
          <p:nvPr/>
        </p:nvSpPr>
        <p:spPr>
          <a:xfrm>
            <a:off x="640080" y="4114800"/>
            <a:ext cx="5394960" cy="224028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251960"/>
            <a:ext cx="457200" cy="411480"/>
          </a:xfrm>
          <a:prstGeom prst="rect">
            <a:avLst/>
          </a:prstGeom>
          <a:noFill/>
        </p:spPr>
        <p:txBody>
          <a:bodyPr wrap="square">
            <a:spAutoFit/>
          </a:bodyPr>
          <a:lstStyle/>
          <a:p>
            <a:pPr algn="l"/>
            <a:r>
              <a:rPr sz="2000" b="0" i="0">
                <a:solidFill>
                  <a:srgbClr val="FFFFFF"/>
                </a:solidFill>
              </a:rPr>
              <a:t>🗺️</a:t>
            </a:r>
          </a:p>
        </p:txBody>
      </p:sp>
      <p:sp>
        <p:nvSpPr>
          <p:cNvPr id="15" name="TextBox 14"/>
          <p:cNvSpPr txBox="1"/>
          <p:nvPr/>
        </p:nvSpPr>
        <p:spPr>
          <a:xfrm>
            <a:off x="822960" y="4617720"/>
            <a:ext cx="5029200" cy="320040"/>
          </a:xfrm>
          <a:prstGeom prst="rect">
            <a:avLst/>
          </a:prstGeom>
          <a:noFill/>
        </p:spPr>
        <p:txBody>
          <a:bodyPr wrap="square">
            <a:spAutoFit/>
          </a:bodyPr>
          <a:lstStyle/>
          <a:p>
            <a:pPr algn="l"/>
            <a:r>
              <a:rPr sz="1200" b="1" i="0">
                <a:solidFill>
                  <a:srgbClr val="C5CEFF"/>
                </a:solidFill>
              </a:rPr>
              <a:t>Genie (DeepMind, 2024)</a:t>
            </a:r>
          </a:p>
        </p:txBody>
      </p:sp>
      <p:sp>
        <p:nvSpPr>
          <p:cNvPr id="16" name="TextBox 15"/>
          <p:cNvSpPr txBox="1"/>
          <p:nvPr/>
        </p:nvSpPr>
        <p:spPr>
          <a:xfrm>
            <a:off x="822960" y="4919472"/>
            <a:ext cx="5029200" cy="1325880"/>
          </a:xfrm>
          <a:prstGeom prst="rect">
            <a:avLst/>
          </a:prstGeom>
          <a:noFill/>
        </p:spPr>
        <p:txBody>
          <a:bodyPr wrap="square">
            <a:spAutoFit/>
          </a:bodyPr>
          <a:lstStyle/>
          <a:p>
            <a:pPr algn="l"/>
            <a:r>
              <a:rPr sz="1000" b="0" i="0">
                <a:solidFill>
                  <a:srgbClr val="8892B0"/>
                </a:solidFill>
              </a:rPr>
              <a:t>Learns an interactive world model from unlabeled video — generates playable 2D environments from a single image.</a:t>
            </a:r>
          </a:p>
        </p:txBody>
      </p:sp>
      <p:sp>
        <p:nvSpPr>
          <p:cNvPr id="17" name="Rectangle 16"/>
          <p:cNvSpPr/>
          <p:nvPr/>
        </p:nvSpPr>
        <p:spPr>
          <a:xfrm>
            <a:off x="6263640" y="4114800"/>
            <a:ext cx="5394960" cy="224028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251960"/>
            <a:ext cx="457200" cy="411480"/>
          </a:xfrm>
          <a:prstGeom prst="rect">
            <a:avLst/>
          </a:prstGeom>
          <a:noFill/>
        </p:spPr>
        <p:txBody>
          <a:bodyPr wrap="square">
            <a:spAutoFit/>
          </a:bodyPr>
          <a:lstStyle/>
          <a:p>
            <a:pPr algn="l"/>
            <a:r>
              <a:rPr sz="2000" b="0" i="0">
                <a:solidFill>
                  <a:srgbClr val="FFFFFF"/>
                </a:solidFill>
              </a:rPr>
              <a:t>🧩</a:t>
            </a:r>
          </a:p>
        </p:txBody>
      </p:sp>
      <p:sp>
        <p:nvSpPr>
          <p:cNvPr id="19" name="TextBox 18"/>
          <p:cNvSpPr txBox="1"/>
          <p:nvPr/>
        </p:nvSpPr>
        <p:spPr>
          <a:xfrm>
            <a:off x="6446520" y="4617720"/>
            <a:ext cx="5029200" cy="320040"/>
          </a:xfrm>
          <a:prstGeom prst="rect">
            <a:avLst/>
          </a:prstGeom>
          <a:noFill/>
        </p:spPr>
        <p:txBody>
          <a:bodyPr wrap="square">
            <a:spAutoFit/>
          </a:bodyPr>
          <a:lstStyle/>
          <a:p>
            <a:pPr algn="l"/>
            <a:r>
              <a:rPr sz="1200" b="1" i="0">
                <a:solidFill>
                  <a:srgbClr val="C5CEFF"/>
                </a:solidFill>
              </a:rPr>
              <a:t>V-JEPA (Meta, 2024)</a:t>
            </a:r>
          </a:p>
        </p:txBody>
      </p:sp>
      <p:sp>
        <p:nvSpPr>
          <p:cNvPr id="20" name="TextBox 19"/>
          <p:cNvSpPr txBox="1"/>
          <p:nvPr/>
        </p:nvSpPr>
        <p:spPr>
          <a:xfrm>
            <a:off x="6446520" y="4919472"/>
            <a:ext cx="5029200" cy="1325880"/>
          </a:xfrm>
          <a:prstGeom prst="rect">
            <a:avLst/>
          </a:prstGeom>
          <a:noFill/>
        </p:spPr>
        <p:txBody>
          <a:bodyPr wrap="square">
            <a:spAutoFit/>
          </a:bodyPr>
          <a:lstStyle/>
          <a:p>
            <a:pPr algn="l"/>
            <a:r>
              <a:rPr sz="1000" b="0" i="0">
                <a:solidFill>
                  <a:srgbClr val="8892B0"/>
                </a:solidFill>
              </a:rPr>
              <a:t>Joint Embedding Predictive Architecture learns abstract world representations by predicting in latent space.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TECHNICAL DEEP DIVE</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Architectural Generations</a:t>
            </a:r>
          </a:p>
        </p:txBody>
      </p:sp>
      <p:sp>
        <p:nvSpPr>
          <p:cNvPr id="5" name="Rectangle 4"/>
          <p:cNvSpPr/>
          <p:nvPr/>
        </p:nvSpPr>
        <p:spPr>
          <a:xfrm>
            <a:off x="502920" y="1691640"/>
            <a:ext cx="1920240" cy="347472"/>
          </a:xfrm>
          <a:prstGeom prst="rect">
            <a:avLst/>
          </a:prstGeom>
          <a:solidFill>
            <a:srgbClr val="101028"/>
          </a:solidFill>
          <a:ln w="635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737360"/>
            <a:ext cx="1828800" cy="274320"/>
          </a:xfrm>
          <a:prstGeom prst="rect">
            <a:avLst/>
          </a:prstGeom>
          <a:noFill/>
        </p:spPr>
        <p:txBody>
          <a:bodyPr wrap="square">
            <a:spAutoFit/>
          </a:bodyPr>
          <a:lstStyle/>
          <a:p>
            <a:pPr algn="l"/>
            <a:r>
              <a:rPr sz="900" b="1" i="0">
                <a:solidFill>
                  <a:srgbClr val="6B7AFF"/>
                </a:solidFill>
              </a:rPr>
              <a:t>Generation</a:t>
            </a:r>
          </a:p>
        </p:txBody>
      </p:sp>
      <p:sp>
        <p:nvSpPr>
          <p:cNvPr id="7" name="Rectangle 6"/>
          <p:cNvSpPr/>
          <p:nvPr/>
        </p:nvSpPr>
        <p:spPr>
          <a:xfrm>
            <a:off x="2468880" y="1691640"/>
            <a:ext cx="1737360" cy="347472"/>
          </a:xfrm>
          <a:prstGeom prst="rect">
            <a:avLst/>
          </a:prstGeom>
          <a:solidFill>
            <a:srgbClr val="101028"/>
          </a:solidFill>
          <a:ln w="635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1737360"/>
            <a:ext cx="1645920" cy="274320"/>
          </a:xfrm>
          <a:prstGeom prst="rect">
            <a:avLst/>
          </a:prstGeom>
          <a:noFill/>
        </p:spPr>
        <p:txBody>
          <a:bodyPr wrap="square">
            <a:spAutoFit/>
          </a:bodyPr>
          <a:lstStyle/>
          <a:p>
            <a:pPr algn="l"/>
            <a:r>
              <a:rPr sz="900" b="1" i="0">
                <a:solidFill>
                  <a:srgbClr val="6B7AFF"/>
                </a:solidFill>
              </a:rPr>
              <a:t>State Space</a:t>
            </a:r>
          </a:p>
        </p:txBody>
      </p:sp>
      <p:sp>
        <p:nvSpPr>
          <p:cNvPr id="9" name="Rectangle 8"/>
          <p:cNvSpPr/>
          <p:nvPr/>
        </p:nvSpPr>
        <p:spPr>
          <a:xfrm>
            <a:off x="4251960" y="1691640"/>
            <a:ext cx="1737360" cy="347472"/>
          </a:xfrm>
          <a:prstGeom prst="rect">
            <a:avLst/>
          </a:prstGeom>
          <a:solidFill>
            <a:srgbClr val="101028"/>
          </a:solidFill>
          <a:ln w="635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737360"/>
            <a:ext cx="1645920" cy="274320"/>
          </a:xfrm>
          <a:prstGeom prst="rect">
            <a:avLst/>
          </a:prstGeom>
          <a:noFill/>
        </p:spPr>
        <p:txBody>
          <a:bodyPr wrap="square">
            <a:spAutoFit/>
          </a:bodyPr>
          <a:lstStyle/>
          <a:p>
            <a:pPr algn="l"/>
            <a:r>
              <a:rPr sz="900" b="1" i="0">
                <a:solidFill>
                  <a:srgbClr val="6B7AFF"/>
                </a:solidFill>
              </a:rPr>
              <a:t>Learning Signal</a:t>
            </a:r>
          </a:p>
        </p:txBody>
      </p:sp>
      <p:sp>
        <p:nvSpPr>
          <p:cNvPr id="11" name="Rectangle 10"/>
          <p:cNvSpPr/>
          <p:nvPr/>
        </p:nvSpPr>
        <p:spPr>
          <a:xfrm>
            <a:off x="6035040" y="1691640"/>
            <a:ext cx="1737360" cy="347472"/>
          </a:xfrm>
          <a:prstGeom prst="rect">
            <a:avLst/>
          </a:prstGeom>
          <a:solidFill>
            <a:srgbClr val="101028"/>
          </a:solidFill>
          <a:ln w="635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737360"/>
            <a:ext cx="1645920" cy="274320"/>
          </a:xfrm>
          <a:prstGeom prst="rect">
            <a:avLst/>
          </a:prstGeom>
          <a:noFill/>
        </p:spPr>
        <p:txBody>
          <a:bodyPr wrap="square">
            <a:spAutoFit/>
          </a:bodyPr>
          <a:lstStyle/>
          <a:p>
            <a:pPr algn="l"/>
            <a:r>
              <a:rPr sz="900" b="1" i="0">
                <a:solidFill>
                  <a:srgbClr val="6B7AFF"/>
                </a:solidFill>
              </a:rPr>
              <a:t>Planning</a:t>
            </a:r>
          </a:p>
        </p:txBody>
      </p:sp>
      <p:sp>
        <p:nvSpPr>
          <p:cNvPr id="13" name="Rectangle 12"/>
          <p:cNvSpPr/>
          <p:nvPr/>
        </p:nvSpPr>
        <p:spPr>
          <a:xfrm>
            <a:off x="7818120" y="1691640"/>
            <a:ext cx="2194560" cy="347472"/>
          </a:xfrm>
          <a:prstGeom prst="rect">
            <a:avLst/>
          </a:prstGeom>
          <a:solidFill>
            <a:srgbClr val="101028"/>
          </a:solidFill>
          <a:ln w="635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1737360"/>
            <a:ext cx="2103120" cy="274320"/>
          </a:xfrm>
          <a:prstGeom prst="rect">
            <a:avLst/>
          </a:prstGeom>
          <a:noFill/>
        </p:spPr>
        <p:txBody>
          <a:bodyPr wrap="square">
            <a:spAutoFit/>
          </a:bodyPr>
          <a:lstStyle/>
          <a:p>
            <a:pPr algn="l"/>
            <a:r>
              <a:rPr sz="900" b="1" i="0">
                <a:solidFill>
                  <a:srgbClr val="6B7AFF"/>
                </a:solidFill>
              </a:rPr>
              <a:t>Key Limitation</a:t>
            </a:r>
          </a:p>
        </p:txBody>
      </p:sp>
      <p:sp>
        <p:nvSpPr>
          <p:cNvPr id="15" name="Rectangle 14"/>
          <p:cNvSpPr/>
          <p:nvPr/>
        </p:nvSpPr>
        <p:spPr>
          <a:xfrm>
            <a:off x="502920" y="2084831"/>
            <a:ext cx="192024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176271"/>
            <a:ext cx="1783080" cy="530352"/>
          </a:xfrm>
          <a:prstGeom prst="rect">
            <a:avLst/>
          </a:prstGeom>
          <a:noFill/>
        </p:spPr>
        <p:txBody>
          <a:bodyPr wrap="square">
            <a:spAutoFit/>
          </a:bodyPr>
          <a:lstStyle/>
          <a:p>
            <a:pPr algn="l"/>
            <a:r>
              <a:rPr sz="900" b="1" i="0">
                <a:solidFill>
                  <a:srgbClr val="C5CEFF"/>
                </a:solidFill>
              </a:rPr>
              <a:t>Symbolic / Kalman</a:t>
            </a:r>
          </a:p>
        </p:txBody>
      </p:sp>
      <p:sp>
        <p:nvSpPr>
          <p:cNvPr id="17" name="Rectangle 16"/>
          <p:cNvSpPr/>
          <p:nvPr/>
        </p:nvSpPr>
        <p:spPr>
          <a:xfrm>
            <a:off x="2468880" y="2084831"/>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0" y="2176271"/>
            <a:ext cx="1600200" cy="530352"/>
          </a:xfrm>
          <a:prstGeom prst="rect">
            <a:avLst/>
          </a:prstGeom>
          <a:noFill/>
        </p:spPr>
        <p:txBody>
          <a:bodyPr wrap="square">
            <a:spAutoFit/>
          </a:bodyPr>
          <a:lstStyle/>
          <a:p>
            <a:pPr algn="l"/>
            <a:r>
              <a:rPr sz="900" b="0" i="0">
                <a:solidFill>
                  <a:srgbClr val="8892B0"/>
                </a:solidFill>
              </a:rPr>
              <a:t>Gaussian belief</a:t>
            </a:r>
          </a:p>
        </p:txBody>
      </p:sp>
      <p:sp>
        <p:nvSpPr>
          <p:cNvPr id="19" name="Rectangle 18"/>
          <p:cNvSpPr/>
          <p:nvPr/>
        </p:nvSpPr>
        <p:spPr>
          <a:xfrm>
            <a:off x="4251960" y="2084831"/>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2176271"/>
            <a:ext cx="1600200" cy="530352"/>
          </a:xfrm>
          <a:prstGeom prst="rect">
            <a:avLst/>
          </a:prstGeom>
          <a:noFill/>
        </p:spPr>
        <p:txBody>
          <a:bodyPr wrap="square">
            <a:spAutoFit/>
          </a:bodyPr>
          <a:lstStyle/>
          <a:p>
            <a:pPr algn="l"/>
            <a:r>
              <a:rPr sz="900" b="0" i="0">
                <a:solidFill>
                  <a:srgbClr val="8892B0"/>
                </a:solidFill>
              </a:rPr>
              <a:t>Hand-crafted</a:t>
            </a:r>
          </a:p>
        </p:txBody>
      </p:sp>
      <p:sp>
        <p:nvSpPr>
          <p:cNvPr id="21" name="Rectangle 20"/>
          <p:cNvSpPr/>
          <p:nvPr/>
        </p:nvSpPr>
        <p:spPr>
          <a:xfrm>
            <a:off x="6035040" y="2084831"/>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0" y="2176271"/>
            <a:ext cx="1600200" cy="530352"/>
          </a:xfrm>
          <a:prstGeom prst="rect">
            <a:avLst/>
          </a:prstGeom>
          <a:noFill/>
        </p:spPr>
        <p:txBody>
          <a:bodyPr wrap="square">
            <a:spAutoFit/>
          </a:bodyPr>
          <a:lstStyle/>
          <a:p>
            <a:pPr algn="l"/>
            <a:r>
              <a:rPr sz="900" b="0" i="0">
                <a:solidFill>
                  <a:srgbClr val="8892B0"/>
                </a:solidFill>
              </a:rPr>
              <a:t>Linear-Gaussian</a:t>
            </a:r>
          </a:p>
        </p:txBody>
      </p:sp>
      <p:sp>
        <p:nvSpPr>
          <p:cNvPr id="23" name="Rectangle 22"/>
          <p:cNvSpPr/>
          <p:nvPr/>
        </p:nvSpPr>
        <p:spPr>
          <a:xfrm>
            <a:off x="7818120" y="2084831"/>
            <a:ext cx="21945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9560" y="2176271"/>
            <a:ext cx="2057400" cy="530352"/>
          </a:xfrm>
          <a:prstGeom prst="rect">
            <a:avLst/>
          </a:prstGeom>
          <a:noFill/>
        </p:spPr>
        <p:txBody>
          <a:bodyPr wrap="square">
            <a:spAutoFit/>
          </a:bodyPr>
          <a:lstStyle/>
          <a:p>
            <a:pPr algn="l"/>
            <a:r>
              <a:rPr sz="900" b="0" i="0">
                <a:solidFill>
                  <a:srgbClr val="8892B0"/>
                </a:solidFill>
              </a:rPr>
              <a:t>No learning from data</a:t>
            </a:r>
          </a:p>
        </p:txBody>
      </p:sp>
      <p:sp>
        <p:nvSpPr>
          <p:cNvPr id="25" name="Rectangle 24"/>
          <p:cNvSpPr/>
          <p:nvPr/>
        </p:nvSpPr>
        <p:spPr>
          <a:xfrm>
            <a:off x="502920" y="2752343"/>
            <a:ext cx="192024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2843783"/>
            <a:ext cx="1783080" cy="530352"/>
          </a:xfrm>
          <a:prstGeom prst="rect">
            <a:avLst/>
          </a:prstGeom>
          <a:noFill/>
        </p:spPr>
        <p:txBody>
          <a:bodyPr wrap="square">
            <a:spAutoFit/>
          </a:bodyPr>
          <a:lstStyle/>
          <a:p>
            <a:pPr algn="l"/>
            <a:r>
              <a:rPr sz="900" b="1" i="0">
                <a:solidFill>
                  <a:srgbClr val="C5CEFF"/>
                </a:solidFill>
              </a:rPr>
              <a:t>VAE + MDN-RNN</a:t>
            </a:r>
          </a:p>
        </p:txBody>
      </p:sp>
      <p:sp>
        <p:nvSpPr>
          <p:cNvPr id="27" name="Rectangle 26"/>
          <p:cNvSpPr/>
          <p:nvPr/>
        </p:nvSpPr>
        <p:spPr>
          <a:xfrm>
            <a:off x="2468880" y="2752343"/>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0" y="2843783"/>
            <a:ext cx="1600200" cy="530352"/>
          </a:xfrm>
          <a:prstGeom prst="rect">
            <a:avLst/>
          </a:prstGeom>
          <a:noFill/>
        </p:spPr>
        <p:txBody>
          <a:bodyPr wrap="square">
            <a:spAutoFit/>
          </a:bodyPr>
          <a:lstStyle/>
          <a:p>
            <a:pPr algn="l"/>
            <a:r>
              <a:rPr sz="900" b="0" i="0">
                <a:solidFill>
                  <a:srgbClr val="8892B0"/>
                </a:solidFill>
              </a:rPr>
              <a:t>Continuous latent z</a:t>
            </a:r>
          </a:p>
        </p:txBody>
      </p:sp>
      <p:sp>
        <p:nvSpPr>
          <p:cNvPr id="29" name="Rectangle 28"/>
          <p:cNvSpPr/>
          <p:nvPr/>
        </p:nvSpPr>
        <p:spPr>
          <a:xfrm>
            <a:off x="4251960" y="2752343"/>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43400" y="2843783"/>
            <a:ext cx="1600200" cy="530352"/>
          </a:xfrm>
          <a:prstGeom prst="rect">
            <a:avLst/>
          </a:prstGeom>
          <a:noFill/>
        </p:spPr>
        <p:txBody>
          <a:bodyPr wrap="square">
            <a:spAutoFit/>
          </a:bodyPr>
          <a:lstStyle/>
          <a:p>
            <a:pPr algn="l"/>
            <a:r>
              <a:rPr sz="900" b="0" i="0">
                <a:solidFill>
                  <a:srgbClr val="8892B0"/>
                </a:solidFill>
              </a:rPr>
              <a:t>Reconstruction</a:t>
            </a:r>
          </a:p>
        </p:txBody>
      </p:sp>
      <p:sp>
        <p:nvSpPr>
          <p:cNvPr id="31" name="Rectangle 30"/>
          <p:cNvSpPr/>
          <p:nvPr/>
        </p:nvSpPr>
        <p:spPr>
          <a:xfrm>
            <a:off x="6035040" y="2752343"/>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26480" y="2843783"/>
            <a:ext cx="1600200" cy="530352"/>
          </a:xfrm>
          <a:prstGeom prst="rect">
            <a:avLst/>
          </a:prstGeom>
          <a:noFill/>
        </p:spPr>
        <p:txBody>
          <a:bodyPr wrap="square">
            <a:spAutoFit/>
          </a:bodyPr>
          <a:lstStyle/>
          <a:p>
            <a:pPr algn="l"/>
            <a:r>
              <a:rPr sz="900" b="0" i="0">
                <a:solidFill>
                  <a:srgbClr val="8892B0"/>
                </a:solidFill>
              </a:rPr>
              <a:t>CMA-ES in dream</a:t>
            </a:r>
          </a:p>
        </p:txBody>
      </p:sp>
      <p:sp>
        <p:nvSpPr>
          <p:cNvPr id="33" name="Rectangle 32"/>
          <p:cNvSpPr/>
          <p:nvPr/>
        </p:nvSpPr>
        <p:spPr>
          <a:xfrm>
            <a:off x="7818120" y="2752343"/>
            <a:ext cx="21945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9560" y="2843783"/>
            <a:ext cx="2057400" cy="530352"/>
          </a:xfrm>
          <a:prstGeom prst="rect">
            <a:avLst/>
          </a:prstGeom>
          <a:noFill/>
        </p:spPr>
        <p:txBody>
          <a:bodyPr wrap="square">
            <a:spAutoFit/>
          </a:bodyPr>
          <a:lstStyle/>
          <a:p>
            <a:pPr algn="l"/>
            <a:r>
              <a:rPr sz="900" b="0" i="0">
                <a:solidFill>
                  <a:srgbClr val="8892B0"/>
                </a:solidFill>
              </a:rPr>
              <a:t>Poor long-horizon fidelity</a:t>
            </a:r>
          </a:p>
        </p:txBody>
      </p:sp>
      <p:sp>
        <p:nvSpPr>
          <p:cNvPr id="35" name="Rectangle 34"/>
          <p:cNvSpPr/>
          <p:nvPr/>
        </p:nvSpPr>
        <p:spPr>
          <a:xfrm>
            <a:off x="502920" y="3419855"/>
            <a:ext cx="192024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3511295"/>
            <a:ext cx="1783080" cy="530352"/>
          </a:xfrm>
          <a:prstGeom prst="rect">
            <a:avLst/>
          </a:prstGeom>
          <a:noFill/>
        </p:spPr>
        <p:txBody>
          <a:bodyPr wrap="square">
            <a:spAutoFit/>
          </a:bodyPr>
          <a:lstStyle/>
          <a:p>
            <a:pPr algn="l"/>
            <a:r>
              <a:rPr sz="900" b="1" i="0">
                <a:solidFill>
                  <a:srgbClr val="C5CEFF"/>
                </a:solidFill>
              </a:rPr>
              <a:t>RSSM (Dreamer)</a:t>
            </a:r>
          </a:p>
        </p:txBody>
      </p:sp>
      <p:sp>
        <p:nvSpPr>
          <p:cNvPr id="37" name="Rectangle 36"/>
          <p:cNvSpPr/>
          <p:nvPr/>
        </p:nvSpPr>
        <p:spPr>
          <a:xfrm>
            <a:off x="2468880" y="3419855"/>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60320" y="3511295"/>
            <a:ext cx="1600200" cy="530352"/>
          </a:xfrm>
          <a:prstGeom prst="rect">
            <a:avLst/>
          </a:prstGeom>
          <a:noFill/>
        </p:spPr>
        <p:txBody>
          <a:bodyPr wrap="square">
            <a:spAutoFit/>
          </a:bodyPr>
          <a:lstStyle/>
          <a:p>
            <a:pPr algn="l"/>
            <a:r>
              <a:rPr sz="900" b="0" i="0">
                <a:solidFill>
                  <a:srgbClr val="8892B0"/>
                </a:solidFill>
              </a:rPr>
              <a:t>Stochastic + det.</a:t>
            </a:r>
          </a:p>
        </p:txBody>
      </p:sp>
      <p:sp>
        <p:nvSpPr>
          <p:cNvPr id="39" name="Rectangle 38"/>
          <p:cNvSpPr/>
          <p:nvPr/>
        </p:nvSpPr>
        <p:spPr>
          <a:xfrm>
            <a:off x="4251960" y="3419855"/>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43400" y="3511295"/>
            <a:ext cx="1600200" cy="530352"/>
          </a:xfrm>
          <a:prstGeom prst="rect">
            <a:avLst/>
          </a:prstGeom>
          <a:noFill/>
        </p:spPr>
        <p:txBody>
          <a:bodyPr wrap="square">
            <a:spAutoFit/>
          </a:bodyPr>
          <a:lstStyle/>
          <a:p>
            <a:pPr algn="l"/>
            <a:r>
              <a:rPr sz="900" b="0" i="0">
                <a:solidFill>
                  <a:srgbClr val="8892B0"/>
                </a:solidFill>
              </a:rPr>
              <a:t>ELBO + reward</a:t>
            </a:r>
          </a:p>
        </p:txBody>
      </p:sp>
      <p:sp>
        <p:nvSpPr>
          <p:cNvPr id="41" name="Rectangle 40"/>
          <p:cNvSpPr/>
          <p:nvPr/>
        </p:nvSpPr>
        <p:spPr>
          <a:xfrm>
            <a:off x="6035040" y="3419855"/>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26480" y="3511295"/>
            <a:ext cx="1600200" cy="530352"/>
          </a:xfrm>
          <a:prstGeom prst="rect">
            <a:avLst/>
          </a:prstGeom>
          <a:noFill/>
        </p:spPr>
        <p:txBody>
          <a:bodyPr wrap="square">
            <a:spAutoFit/>
          </a:bodyPr>
          <a:lstStyle/>
          <a:p>
            <a:pPr algn="l"/>
            <a:r>
              <a:rPr sz="900" b="0" i="0">
                <a:solidFill>
                  <a:srgbClr val="8892B0"/>
                </a:solidFill>
              </a:rPr>
              <a:t>Latent imagination</a:t>
            </a:r>
          </a:p>
        </p:txBody>
      </p:sp>
      <p:sp>
        <p:nvSpPr>
          <p:cNvPr id="43" name="Rectangle 42"/>
          <p:cNvSpPr/>
          <p:nvPr/>
        </p:nvSpPr>
        <p:spPr>
          <a:xfrm>
            <a:off x="7818120" y="3419855"/>
            <a:ext cx="21945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09560" y="3511295"/>
            <a:ext cx="2057400" cy="530352"/>
          </a:xfrm>
          <a:prstGeom prst="rect">
            <a:avLst/>
          </a:prstGeom>
          <a:noFill/>
        </p:spPr>
        <p:txBody>
          <a:bodyPr wrap="square">
            <a:spAutoFit/>
          </a:bodyPr>
          <a:lstStyle/>
          <a:p>
            <a:pPr algn="l"/>
            <a:r>
              <a:rPr sz="900" b="0" i="0">
                <a:solidFill>
                  <a:srgbClr val="8892B0"/>
                </a:solidFill>
              </a:rPr>
              <a:t>Compounding dream errors</a:t>
            </a:r>
          </a:p>
        </p:txBody>
      </p:sp>
      <p:sp>
        <p:nvSpPr>
          <p:cNvPr id="45" name="Rectangle 44"/>
          <p:cNvSpPr/>
          <p:nvPr/>
        </p:nvSpPr>
        <p:spPr>
          <a:xfrm>
            <a:off x="502920" y="4087367"/>
            <a:ext cx="192024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4178807"/>
            <a:ext cx="1783080" cy="530352"/>
          </a:xfrm>
          <a:prstGeom prst="rect">
            <a:avLst/>
          </a:prstGeom>
          <a:noFill/>
        </p:spPr>
        <p:txBody>
          <a:bodyPr wrap="square">
            <a:spAutoFit/>
          </a:bodyPr>
          <a:lstStyle/>
          <a:p>
            <a:pPr algn="l"/>
            <a:r>
              <a:rPr sz="900" b="1" i="0">
                <a:solidFill>
                  <a:srgbClr val="C5CEFF"/>
                </a:solidFill>
              </a:rPr>
              <a:t>LLM-based</a:t>
            </a:r>
          </a:p>
        </p:txBody>
      </p:sp>
      <p:sp>
        <p:nvSpPr>
          <p:cNvPr id="47" name="Rectangle 46"/>
          <p:cNvSpPr/>
          <p:nvPr/>
        </p:nvSpPr>
        <p:spPr>
          <a:xfrm>
            <a:off x="2468880" y="4087367"/>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60320" y="4178807"/>
            <a:ext cx="1600200" cy="530352"/>
          </a:xfrm>
          <a:prstGeom prst="rect">
            <a:avLst/>
          </a:prstGeom>
          <a:noFill/>
        </p:spPr>
        <p:txBody>
          <a:bodyPr wrap="square">
            <a:spAutoFit/>
          </a:bodyPr>
          <a:lstStyle/>
          <a:p>
            <a:pPr algn="l"/>
            <a:r>
              <a:rPr sz="900" b="0" i="0">
                <a:solidFill>
                  <a:srgbClr val="8892B0"/>
                </a:solidFill>
              </a:rPr>
              <a:t>Token sequences</a:t>
            </a:r>
          </a:p>
        </p:txBody>
      </p:sp>
      <p:sp>
        <p:nvSpPr>
          <p:cNvPr id="49" name="Rectangle 48"/>
          <p:cNvSpPr/>
          <p:nvPr/>
        </p:nvSpPr>
        <p:spPr>
          <a:xfrm>
            <a:off x="4251960" y="4087367"/>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43400" y="4178807"/>
            <a:ext cx="1600200" cy="530352"/>
          </a:xfrm>
          <a:prstGeom prst="rect">
            <a:avLst/>
          </a:prstGeom>
          <a:noFill/>
        </p:spPr>
        <p:txBody>
          <a:bodyPr wrap="square">
            <a:spAutoFit/>
          </a:bodyPr>
          <a:lstStyle/>
          <a:p>
            <a:pPr algn="l"/>
            <a:r>
              <a:rPr sz="900" b="0" i="0">
                <a:solidFill>
                  <a:srgbClr val="8892B0"/>
                </a:solidFill>
              </a:rPr>
              <a:t>Next-token pred.</a:t>
            </a:r>
          </a:p>
        </p:txBody>
      </p:sp>
      <p:sp>
        <p:nvSpPr>
          <p:cNvPr id="51" name="Rectangle 50"/>
          <p:cNvSpPr/>
          <p:nvPr/>
        </p:nvSpPr>
        <p:spPr>
          <a:xfrm>
            <a:off x="6035040" y="4087367"/>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26480" y="4178807"/>
            <a:ext cx="1600200" cy="530352"/>
          </a:xfrm>
          <a:prstGeom prst="rect">
            <a:avLst/>
          </a:prstGeom>
          <a:noFill/>
        </p:spPr>
        <p:txBody>
          <a:bodyPr wrap="square">
            <a:spAutoFit/>
          </a:bodyPr>
          <a:lstStyle/>
          <a:p>
            <a:pPr algn="l"/>
            <a:r>
              <a:rPr sz="900" b="0" i="0">
                <a:solidFill>
                  <a:srgbClr val="8892B0"/>
                </a:solidFill>
              </a:rPr>
              <a:t>CoT / search</a:t>
            </a:r>
          </a:p>
        </p:txBody>
      </p:sp>
      <p:sp>
        <p:nvSpPr>
          <p:cNvPr id="53" name="Rectangle 52"/>
          <p:cNvSpPr/>
          <p:nvPr/>
        </p:nvSpPr>
        <p:spPr>
          <a:xfrm>
            <a:off x="7818120" y="4087367"/>
            <a:ext cx="21945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09560" y="4178807"/>
            <a:ext cx="2057400" cy="530352"/>
          </a:xfrm>
          <a:prstGeom prst="rect">
            <a:avLst/>
          </a:prstGeom>
          <a:noFill/>
        </p:spPr>
        <p:txBody>
          <a:bodyPr wrap="square">
            <a:spAutoFit/>
          </a:bodyPr>
          <a:lstStyle/>
          <a:p>
            <a:pPr algn="l"/>
            <a:r>
              <a:rPr sz="900" b="0" i="0">
                <a:solidFill>
                  <a:srgbClr val="8892B0"/>
                </a:solidFill>
              </a:rPr>
              <a:t>No persistent state</a:t>
            </a:r>
          </a:p>
        </p:txBody>
      </p:sp>
      <p:sp>
        <p:nvSpPr>
          <p:cNvPr id="55" name="Rectangle 54"/>
          <p:cNvSpPr/>
          <p:nvPr/>
        </p:nvSpPr>
        <p:spPr>
          <a:xfrm>
            <a:off x="502920" y="4754879"/>
            <a:ext cx="192024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4846319"/>
            <a:ext cx="1783080" cy="530352"/>
          </a:xfrm>
          <a:prstGeom prst="rect">
            <a:avLst/>
          </a:prstGeom>
          <a:noFill/>
        </p:spPr>
        <p:txBody>
          <a:bodyPr wrap="square">
            <a:spAutoFit/>
          </a:bodyPr>
          <a:lstStyle/>
          <a:p>
            <a:pPr algn="l"/>
            <a:r>
              <a:rPr sz="900" b="1" i="0">
                <a:solidFill>
                  <a:srgbClr val="C5CEFF"/>
                </a:solidFill>
              </a:rPr>
              <a:t>Video diffusion</a:t>
            </a:r>
          </a:p>
        </p:txBody>
      </p:sp>
      <p:sp>
        <p:nvSpPr>
          <p:cNvPr id="57" name="Rectangle 56"/>
          <p:cNvSpPr/>
          <p:nvPr/>
        </p:nvSpPr>
        <p:spPr>
          <a:xfrm>
            <a:off x="2468880" y="4754879"/>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60320" y="4846319"/>
            <a:ext cx="1600200" cy="530352"/>
          </a:xfrm>
          <a:prstGeom prst="rect">
            <a:avLst/>
          </a:prstGeom>
          <a:noFill/>
        </p:spPr>
        <p:txBody>
          <a:bodyPr wrap="square">
            <a:spAutoFit/>
          </a:bodyPr>
          <a:lstStyle/>
          <a:p>
            <a:pPr algn="l"/>
            <a:r>
              <a:rPr sz="900" b="0" i="0">
                <a:solidFill>
                  <a:srgbClr val="8892B0"/>
                </a:solidFill>
              </a:rPr>
              <a:t>Pixel / latent video</a:t>
            </a:r>
          </a:p>
        </p:txBody>
      </p:sp>
      <p:sp>
        <p:nvSpPr>
          <p:cNvPr id="59" name="Rectangle 58"/>
          <p:cNvSpPr/>
          <p:nvPr/>
        </p:nvSpPr>
        <p:spPr>
          <a:xfrm>
            <a:off x="4251960" y="4754879"/>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343400" y="4846319"/>
            <a:ext cx="1600200" cy="530352"/>
          </a:xfrm>
          <a:prstGeom prst="rect">
            <a:avLst/>
          </a:prstGeom>
          <a:noFill/>
        </p:spPr>
        <p:txBody>
          <a:bodyPr wrap="square">
            <a:spAutoFit/>
          </a:bodyPr>
          <a:lstStyle/>
          <a:p>
            <a:pPr algn="l"/>
            <a:r>
              <a:rPr sz="900" b="0" i="0">
                <a:solidFill>
                  <a:srgbClr val="8892B0"/>
                </a:solidFill>
              </a:rPr>
              <a:t>Denoising score</a:t>
            </a:r>
          </a:p>
        </p:txBody>
      </p:sp>
      <p:sp>
        <p:nvSpPr>
          <p:cNvPr id="61" name="Rectangle 60"/>
          <p:cNvSpPr/>
          <p:nvPr/>
        </p:nvSpPr>
        <p:spPr>
          <a:xfrm>
            <a:off x="6035040" y="4754879"/>
            <a:ext cx="17373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26480" y="4846319"/>
            <a:ext cx="1600200" cy="530352"/>
          </a:xfrm>
          <a:prstGeom prst="rect">
            <a:avLst/>
          </a:prstGeom>
          <a:noFill/>
        </p:spPr>
        <p:txBody>
          <a:bodyPr wrap="square">
            <a:spAutoFit/>
          </a:bodyPr>
          <a:lstStyle/>
          <a:p>
            <a:pPr algn="l"/>
            <a:r>
              <a:rPr sz="900" b="0" i="0">
                <a:solidFill>
                  <a:srgbClr val="8892B0"/>
                </a:solidFill>
              </a:rPr>
              <a:t>Implicit rollout</a:t>
            </a:r>
          </a:p>
        </p:txBody>
      </p:sp>
      <p:sp>
        <p:nvSpPr>
          <p:cNvPr id="63" name="Rectangle 62"/>
          <p:cNvSpPr/>
          <p:nvPr/>
        </p:nvSpPr>
        <p:spPr>
          <a:xfrm>
            <a:off x="7818120" y="4754879"/>
            <a:ext cx="2194560" cy="630936"/>
          </a:xfrm>
          <a:prstGeom prst="rect">
            <a:avLst/>
          </a:prstGeom>
          <a:solidFill>
            <a:srgbClr val="0E0E1A"/>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909560" y="4846319"/>
            <a:ext cx="2057400" cy="530352"/>
          </a:xfrm>
          <a:prstGeom prst="rect">
            <a:avLst/>
          </a:prstGeom>
          <a:noFill/>
        </p:spPr>
        <p:txBody>
          <a:bodyPr wrap="square">
            <a:spAutoFit/>
          </a:bodyPr>
          <a:lstStyle/>
          <a:p>
            <a:pPr algn="l"/>
            <a:r>
              <a:rPr sz="900" b="0" i="0">
                <a:solidFill>
                  <a:srgbClr val="8892B0"/>
                </a:solidFill>
              </a:rPr>
              <a:t>Slow, not interactive</a:t>
            </a:r>
          </a:p>
        </p:txBody>
      </p:sp>
      <p:sp>
        <p:nvSpPr>
          <p:cNvPr id="65" name="Rectangle 64"/>
          <p:cNvSpPr/>
          <p:nvPr/>
        </p:nvSpPr>
        <p:spPr>
          <a:xfrm>
            <a:off x="502920" y="5422391"/>
            <a:ext cx="192024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94360" y="5513831"/>
            <a:ext cx="1783080" cy="530352"/>
          </a:xfrm>
          <a:prstGeom prst="rect">
            <a:avLst/>
          </a:prstGeom>
          <a:noFill/>
        </p:spPr>
        <p:txBody>
          <a:bodyPr wrap="square">
            <a:spAutoFit/>
          </a:bodyPr>
          <a:lstStyle/>
          <a:p>
            <a:pPr algn="l"/>
            <a:r>
              <a:rPr sz="900" b="1" i="0">
                <a:solidFill>
                  <a:srgbClr val="C5CEFF"/>
                </a:solidFill>
              </a:rPr>
              <a:t>JEPA / Abstract</a:t>
            </a:r>
          </a:p>
        </p:txBody>
      </p:sp>
      <p:sp>
        <p:nvSpPr>
          <p:cNvPr id="67" name="Rectangle 66"/>
          <p:cNvSpPr/>
          <p:nvPr/>
        </p:nvSpPr>
        <p:spPr>
          <a:xfrm>
            <a:off x="2468880" y="5422391"/>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560320" y="5513831"/>
            <a:ext cx="1600200" cy="530352"/>
          </a:xfrm>
          <a:prstGeom prst="rect">
            <a:avLst/>
          </a:prstGeom>
          <a:noFill/>
        </p:spPr>
        <p:txBody>
          <a:bodyPr wrap="square">
            <a:spAutoFit/>
          </a:bodyPr>
          <a:lstStyle/>
          <a:p>
            <a:pPr algn="l"/>
            <a:r>
              <a:rPr sz="900" b="0" i="0">
                <a:solidFill>
                  <a:srgbClr val="8892B0"/>
                </a:solidFill>
              </a:rPr>
              <a:t>Abstract embeddings</a:t>
            </a:r>
          </a:p>
        </p:txBody>
      </p:sp>
      <p:sp>
        <p:nvSpPr>
          <p:cNvPr id="69" name="Rectangle 68"/>
          <p:cNvSpPr/>
          <p:nvPr/>
        </p:nvSpPr>
        <p:spPr>
          <a:xfrm>
            <a:off x="4251960" y="5422391"/>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43400" y="5513831"/>
            <a:ext cx="1600200" cy="530352"/>
          </a:xfrm>
          <a:prstGeom prst="rect">
            <a:avLst/>
          </a:prstGeom>
          <a:noFill/>
        </p:spPr>
        <p:txBody>
          <a:bodyPr wrap="square">
            <a:spAutoFit/>
          </a:bodyPr>
          <a:lstStyle/>
          <a:p>
            <a:pPr algn="l"/>
            <a:r>
              <a:rPr sz="900" b="0" i="0">
                <a:solidFill>
                  <a:srgbClr val="8892B0"/>
                </a:solidFill>
              </a:rPr>
              <a:t>Predictive SSL</a:t>
            </a:r>
          </a:p>
        </p:txBody>
      </p:sp>
      <p:sp>
        <p:nvSpPr>
          <p:cNvPr id="71" name="Rectangle 70"/>
          <p:cNvSpPr/>
          <p:nvPr/>
        </p:nvSpPr>
        <p:spPr>
          <a:xfrm>
            <a:off x="6035040" y="5422391"/>
            <a:ext cx="17373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126480" y="5513831"/>
            <a:ext cx="1600200" cy="530352"/>
          </a:xfrm>
          <a:prstGeom prst="rect">
            <a:avLst/>
          </a:prstGeom>
          <a:noFill/>
        </p:spPr>
        <p:txBody>
          <a:bodyPr wrap="square">
            <a:spAutoFit/>
          </a:bodyPr>
          <a:lstStyle/>
          <a:p>
            <a:pPr algn="l"/>
            <a:r>
              <a:rPr sz="900" b="0" i="0">
                <a:solidFill>
                  <a:srgbClr val="8892B0"/>
                </a:solidFill>
              </a:rPr>
              <a:t>Latent search</a:t>
            </a:r>
          </a:p>
        </p:txBody>
      </p:sp>
      <p:sp>
        <p:nvSpPr>
          <p:cNvPr id="73" name="Rectangle 72"/>
          <p:cNvSpPr/>
          <p:nvPr/>
        </p:nvSpPr>
        <p:spPr>
          <a:xfrm>
            <a:off x="7818120" y="5422391"/>
            <a:ext cx="2194560" cy="630936"/>
          </a:xfrm>
          <a:prstGeom prst="rect">
            <a:avLst/>
          </a:prstGeom>
          <a:solidFill>
            <a:srgbClr val="121220"/>
          </a:solidFill>
          <a:ln w="3810">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909560" y="5513831"/>
            <a:ext cx="2057400" cy="530352"/>
          </a:xfrm>
          <a:prstGeom prst="rect">
            <a:avLst/>
          </a:prstGeom>
          <a:noFill/>
        </p:spPr>
        <p:txBody>
          <a:bodyPr wrap="square">
            <a:spAutoFit/>
          </a:bodyPr>
          <a:lstStyle/>
          <a:p>
            <a:pPr algn="l"/>
            <a:r>
              <a:rPr sz="900" b="0" i="0">
                <a:solidFill>
                  <a:srgbClr val="8892B0"/>
                </a:solidFill>
              </a:rPr>
              <a:t>Early-stage research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CURRENT FRONTIER</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Open Challenges</a:t>
            </a:r>
          </a:p>
        </p:txBody>
      </p:sp>
      <p:sp>
        <p:nvSpPr>
          <p:cNvPr id="5" name="Rectangle 4"/>
          <p:cNvSpPr/>
          <p:nvPr/>
        </p:nvSpPr>
        <p:spPr>
          <a:xfrm>
            <a:off x="502920" y="1600200"/>
            <a:ext cx="2606040" cy="18288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37360"/>
            <a:ext cx="457200" cy="411480"/>
          </a:xfrm>
          <a:prstGeom prst="rect">
            <a:avLst/>
          </a:prstGeom>
          <a:noFill/>
        </p:spPr>
        <p:txBody>
          <a:bodyPr wrap="square">
            <a:spAutoFit/>
          </a:bodyPr>
          <a:lstStyle/>
          <a:p>
            <a:pPr algn="l"/>
            <a:r>
              <a:rPr sz="2000" b="0" i="0">
                <a:solidFill>
                  <a:srgbClr val="FFFFFF"/>
                </a:solidFill>
              </a:rPr>
              <a:t>⏳</a:t>
            </a:r>
          </a:p>
        </p:txBody>
      </p:sp>
      <p:sp>
        <p:nvSpPr>
          <p:cNvPr id="7" name="TextBox 6"/>
          <p:cNvSpPr txBox="1"/>
          <p:nvPr/>
        </p:nvSpPr>
        <p:spPr>
          <a:xfrm>
            <a:off x="685800" y="2103120"/>
            <a:ext cx="2240280" cy="320040"/>
          </a:xfrm>
          <a:prstGeom prst="rect">
            <a:avLst/>
          </a:prstGeom>
          <a:noFill/>
        </p:spPr>
        <p:txBody>
          <a:bodyPr wrap="square">
            <a:spAutoFit/>
          </a:bodyPr>
          <a:lstStyle/>
          <a:p>
            <a:pPr algn="l"/>
            <a:r>
              <a:rPr sz="1200" b="1" i="0">
                <a:solidFill>
                  <a:srgbClr val="C5CEFF"/>
                </a:solidFill>
              </a:rPr>
              <a:t>Long-Horizon Fidelity</a:t>
            </a:r>
          </a:p>
        </p:txBody>
      </p:sp>
      <p:sp>
        <p:nvSpPr>
          <p:cNvPr id="8" name="TextBox 7"/>
          <p:cNvSpPr txBox="1"/>
          <p:nvPr/>
        </p:nvSpPr>
        <p:spPr>
          <a:xfrm>
            <a:off x="685800" y="2404872"/>
            <a:ext cx="2240280" cy="914400"/>
          </a:xfrm>
          <a:prstGeom prst="rect">
            <a:avLst/>
          </a:prstGeom>
          <a:noFill/>
        </p:spPr>
        <p:txBody>
          <a:bodyPr wrap="square">
            <a:spAutoFit/>
          </a:bodyPr>
          <a:lstStyle/>
          <a:p>
            <a:pPr algn="l"/>
            <a:r>
              <a:rPr sz="1000" b="0" i="0">
                <a:solidFill>
                  <a:srgbClr val="8892B0"/>
                </a:solidFill>
              </a:rPr>
              <a:t>Errors accumulate in dream rollouts; models fail beyond a few dozen steps.</a:t>
            </a:r>
          </a:p>
        </p:txBody>
      </p:sp>
      <p:sp>
        <p:nvSpPr>
          <p:cNvPr id="9" name="Rectangle 8"/>
          <p:cNvSpPr/>
          <p:nvPr/>
        </p:nvSpPr>
        <p:spPr>
          <a:xfrm>
            <a:off x="3273552" y="1600200"/>
            <a:ext cx="2606040" cy="18288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737360"/>
            <a:ext cx="457200" cy="411480"/>
          </a:xfrm>
          <a:prstGeom prst="rect">
            <a:avLst/>
          </a:prstGeom>
          <a:noFill/>
        </p:spPr>
        <p:txBody>
          <a:bodyPr wrap="square">
            <a:spAutoFit/>
          </a:bodyPr>
          <a:lstStyle/>
          <a:p>
            <a:pPr algn="l"/>
            <a:r>
              <a:rPr sz="2000" b="0" i="0">
                <a:solidFill>
                  <a:srgbClr val="FFFFFF"/>
                </a:solidFill>
              </a:rPr>
              <a:t>🔄</a:t>
            </a:r>
          </a:p>
        </p:txBody>
      </p:sp>
      <p:sp>
        <p:nvSpPr>
          <p:cNvPr id="11" name="TextBox 10"/>
          <p:cNvSpPr txBox="1"/>
          <p:nvPr/>
        </p:nvSpPr>
        <p:spPr>
          <a:xfrm>
            <a:off x="3456432" y="2103120"/>
            <a:ext cx="2240280" cy="320040"/>
          </a:xfrm>
          <a:prstGeom prst="rect">
            <a:avLst/>
          </a:prstGeom>
          <a:noFill/>
        </p:spPr>
        <p:txBody>
          <a:bodyPr wrap="square">
            <a:spAutoFit/>
          </a:bodyPr>
          <a:lstStyle/>
          <a:p>
            <a:pPr algn="l"/>
            <a:r>
              <a:rPr sz="1200" b="1" i="0">
                <a:solidFill>
                  <a:srgbClr val="C5CEFF"/>
                </a:solidFill>
              </a:rPr>
              <a:t>Persistent State</a:t>
            </a:r>
          </a:p>
        </p:txBody>
      </p:sp>
      <p:sp>
        <p:nvSpPr>
          <p:cNvPr id="12" name="TextBox 11"/>
          <p:cNvSpPr txBox="1"/>
          <p:nvPr/>
        </p:nvSpPr>
        <p:spPr>
          <a:xfrm>
            <a:off x="3456432" y="2404872"/>
            <a:ext cx="2240280" cy="914400"/>
          </a:xfrm>
          <a:prstGeom prst="rect">
            <a:avLst/>
          </a:prstGeom>
          <a:noFill/>
        </p:spPr>
        <p:txBody>
          <a:bodyPr wrap="square">
            <a:spAutoFit/>
          </a:bodyPr>
          <a:lstStyle/>
          <a:p>
            <a:pPr algn="l"/>
            <a:r>
              <a:rPr sz="1000" b="0" i="0">
                <a:solidFill>
                  <a:srgbClr val="8892B0"/>
                </a:solidFill>
              </a:rPr>
              <a:t>LLMs lack a continuously updated world state — each context window is stateless.</a:t>
            </a:r>
          </a:p>
        </p:txBody>
      </p:sp>
      <p:sp>
        <p:nvSpPr>
          <p:cNvPr id="13" name="Rectangle 12"/>
          <p:cNvSpPr/>
          <p:nvPr/>
        </p:nvSpPr>
        <p:spPr>
          <a:xfrm>
            <a:off x="6044184" y="1600200"/>
            <a:ext cx="2606040" cy="18288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737360"/>
            <a:ext cx="457200" cy="411480"/>
          </a:xfrm>
          <a:prstGeom prst="rect">
            <a:avLst/>
          </a:prstGeom>
          <a:noFill/>
        </p:spPr>
        <p:txBody>
          <a:bodyPr wrap="square">
            <a:spAutoFit/>
          </a:bodyPr>
          <a:lstStyle/>
          <a:p>
            <a:pPr algn="l"/>
            <a:r>
              <a:rPr sz="2000" b="0" i="0">
                <a:solidFill>
                  <a:srgbClr val="FFFFFF"/>
                </a:solidFill>
              </a:rPr>
              <a:t>🌐</a:t>
            </a:r>
          </a:p>
        </p:txBody>
      </p:sp>
      <p:sp>
        <p:nvSpPr>
          <p:cNvPr id="15" name="TextBox 14"/>
          <p:cNvSpPr txBox="1"/>
          <p:nvPr/>
        </p:nvSpPr>
        <p:spPr>
          <a:xfrm>
            <a:off x="6227064" y="2103120"/>
            <a:ext cx="2240280" cy="320040"/>
          </a:xfrm>
          <a:prstGeom prst="rect">
            <a:avLst/>
          </a:prstGeom>
          <a:noFill/>
        </p:spPr>
        <p:txBody>
          <a:bodyPr wrap="square">
            <a:spAutoFit/>
          </a:bodyPr>
          <a:lstStyle/>
          <a:p>
            <a:pPr algn="l"/>
            <a:r>
              <a:rPr sz="1200" b="1" i="0">
                <a:solidFill>
                  <a:srgbClr val="C5CEFF"/>
                </a:solidFill>
              </a:rPr>
              <a:t>Grounding &amp; Causality</a:t>
            </a:r>
          </a:p>
        </p:txBody>
      </p:sp>
      <p:sp>
        <p:nvSpPr>
          <p:cNvPr id="16" name="TextBox 15"/>
          <p:cNvSpPr txBox="1"/>
          <p:nvPr/>
        </p:nvSpPr>
        <p:spPr>
          <a:xfrm>
            <a:off x="6227064" y="2404872"/>
            <a:ext cx="2240280" cy="914400"/>
          </a:xfrm>
          <a:prstGeom prst="rect">
            <a:avLst/>
          </a:prstGeom>
          <a:noFill/>
        </p:spPr>
        <p:txBody>
          <a:bodyPr wrap="square">
            <a:spAutoFit/>
          </a:bodyPr>
          <a:lstStyle/>
          <a:p>
            <a:pPr algn="l"/>
            <a:r>
              <a:rPr sz="1000" b="0" i="0">
                <a:solidFill>
                  <a:srgbClr val="8892B0"/>
                </a:solidFill>
              </a:rPr>
              <a:t>Models learn correlations; distinguishing causal mechanisms from confounders remains unsolved.</a:t>
            </a:r>
          </a:p>
        </p:txBody>
      </p:sp>
      <p:sp>
        <p:nvSpPr>
          <p:cNvPr id="17" name="Rectangle 16"/>
          <p:cNvSpPr/>
          <p:nvPr/>
        </p:nvSpPr>
        <p:spPr>
          <a:xfrm>
            <a:off x="8814816" y="1600200"/>
            <a:ext cx="2606040" cy="18288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97696" y="1737360"/>
            <a:ext cx="457200" cy="411480"/>
          </a:xfrm>
          <a:prstGeom prst="rect">
            <a:avLst/>
          </a:prstGeom>
          <a:noFill/>
        </p:spPr>
        <p:txBody>
          <a:bodyPr wrap="square">
            <a:spAutoFit/>
          </a:bodyPr>
          <a:lstStyle/>
          <a:p>
            <a:pPr algn="l"/>
            <a:r>
              <a:rPr sz="2000" b="0" i="0">
                <a:solidFill>
                  <a:srgbClr val="FFFFFF"/>
                </a:solidFill>
              </a:rPr>
              <a:t>📐</a:t>
            </a:r>
          </a:p>
        </p:txBody>
      </p:sp>
      <p:sp>
        <p:nvSpPr>
          <p:cNvPr id="19" name="TextBox 18"/>
          <p:cNvSpPr txBox="1"/>
          <p:nvPr/>
        </p:nvSpPr>
        <p:spPr>
          <a:xfrm>
            <a:off x="8997696" y="2103120"/>
            <a:ext cx="2240280" cy="320040"/>
          </a:xfrm>
          <a:prstGeom prst="rect">
            <a:avLst/>
          </a:prstGeom>
          <a:noFill/>
        </p:spPr>
        <p:txBody>
          <a:bodyPr wrap="square">
            <a:spAutoFit/>
          </a:bodyPr>
          <a:lstStyle/>
          <a:p>
            <a:pPr algn="l"/>
            <a:r>
              <a:rPr sz="1200" b="1" i="0">
                <a:solidFill>
                  <a:srgbClr val="C5CEFF"/>
                </a:solidFill>
              </a:rPr>
              <a:t>Compositionality</a:t>
            </a:r>
          </a:p>
        </p:txBody>
      </p:sp>
      <p:sp>
        <p:nvSpPr>
          <p:cNvPr id="20" name="TextBox 19"/>
          <p:cNvSpPr txBox="1"/>
          <p:nvPr/>
        </p:nvSpPr>
        <p:spPr>
          <a:xfrm>
            <a:off x="8997696" y="2404872"/>
            <a:ext cx="2240280" cy="914400"/>
          </a:xfrm>
          <a:prstGeom prst="rect">
            <a:avLst/>
          </a:prstGeom>
          <a:noFill/>
        </p:spPr>
        <p:txBody>
          <a:bodyPr wrap="square">
            <a:spAutoFit/>
          </a:bodyPr>
          <a:lstStyle/>
          <a:p>
            <a:pPr algn="l"/>
            <a:r>
              <a:rPr sz="1000" b="0" i="0">
                <a:solidFill>
                  <a:srgbClr val="8892B0"/>
                </a:solidFill>
              </a:rPr>
              <a:t>Combining learned concepts in novel configurations — systematic generalization — is still brittle.</a:t>
            </a:r>
          </a:p>
        </p:txBody>
      </p:sp>
      <p:sp>
        <p:nvSpPr>
          <p:cNvPr id="21" name="Rectangle 20"/>
          <p:cNvSpPr/>
          <p:nvPr/>
        </p:nvSpPr>
        <p:spPr>
          <a:xfrm>
            <a:off x="502920" y="3593592"/>
            <a:ext cx="2606040" cy="18288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730752"/>
            <a:ext cx="457200" cy="411480"/>
          </a:xfrm>
          <a:prstGeom prst="rect">
            <a:avLst/>
          </a:prstGeom>
          <a:noFill/>
        </p:spPr>
        <p:txBody>
          <a:bodyPr wrap="square">
            <a:spAutoFit/>
          </a:bodyPr>
          <a:lstStyle/>
          <a:p>
            <a:pPr algn="l"/>
            <a:r>
              <a:rPr sz="2000" b="0" i="0">
                <a:solidFill>
                  <a:srgbClr val="FFFFFF"/>
                </a:solidFill>
              </a:rPr>
              <a:t>🏃</a:t>
            </a:r>
          </a:p>
        </p:txBody>
      </p:sp>
      <p:sp>
        <p:nvSpPr>
          <p:cNvPr id="23" name="TextBox 22"/>
          <p:cNvSpPr txBox="1"/>
          <p:nvPr/>
        </p:nvSpPr>
        <p:spPr>
          <a:xfrm>
            <a:off x="685800" y="4096512"/>
            <a:ext cx="2240280" cy="320040"/>
          </a:xfrm>
          <a:prstGeom prst="rect">
            <a:avLst/>
          </a:prstGeom>
          <a:noFill/>
        </p:spPr>
        <p:txBody>
          <a:bodyPr wrap="square">
            <a:spAutoFit/>
          </a:bodyPr>
          <a:lstStyle/>
          <a:p>
            <a:pPr algn="l"/>
            <a:r>
              <a:rPr sz="1200" b="1" i="0">
                <a:solidFill>
                  <a:srgbClr val="C5CEFF"/>
                </a:solidFill>
              </a:rPr>
              <a:t>Real-Time Inference</a:t>
            </a:r>
          </a:p>
        </p:txBody>
      </p:sp>
      <p:sp>
        <p:nvSpPr>
          <p:cNvPr id="24" name="TextBox 23"/>
          <p:cNvSpPr txBox="1"/>
          <p:nvPr/>
        </p:nvSpPr>
        <p:spPr>
          <a:xfrm>
            <a:off x="685800" y="4398264"/>
            <a:ext cx="2240280" cy="914400"/>
          </a:xfrm>
          <a:prstGeom prst="rect">
            <a:avLst/>
          </a:prstGeom>
          <a:noFill/>
        </p:spPr>
        <p:txBody>
          <a:bodyPr wrap="square">
            <a:spAutoFit/>
          </a:bodyPr>
          <a:lstStyle/>
          <a:p>
            <a:pPr algn="l"/>
            <a:r>
              <a:rPr sz="1000" b="0" i="0">
                <a:solidFill>
                  <a:srgbClr val="8892B0"/>
                </a:solidFill>
              </a:rPr>
              <a:t>Video and diffusion world models are too slow for interactive robotics and real-time planning.</a:t>
            </a:r>
          </a:p>
        </p:txBody>
      </p:sp>
      <p:sp>
        <p:nvSpPr>
          <p:cNvPr id="25" name="Rectangle 24"/>
          <p:cNvSpPr/>
          <p:nvPr/>
        </p:nvSpPr>
        <p:spPr>
          <a:xfrm>
            <a:off x="3273552" y="3593592"/>
            <a:ext cx="2606040" cy="18288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56432" y="3730752"/>
            <a:ext cx="457200" cy="411480"/>
          </a:xfrm>
          <a:prstGeom prst="rect">
            <a:avLst/>
          </a:prstGeom>
          <a:noFill/>
        </p:spPr>
        <p:txBody>
          <a:bodyPr wrap="square">
            <a:spAutoFit/>
          </a:bodyPr>
          <a:lstStyle/>
          <a:p>
            <a:pPr algn="l"/>
            <a:r>
              <a:rPr sz="2000" b="0" i="0">
                <a:solidFill>
                  <a:srgbClr val="FFFFFF"/>
                </a:solidFill>
              </a:rPr>
              <a:t>🎯</a:t>
            </a:r>
          </a:p>
        </p:txBody>
      </p:sp>
      <p:sp>
        <p:nvSpPr>
          <p:cNvPr id="27" name="TextBox 26"/>
          <p:cNvSpPr txBox="1"/>
          <p:nvPr/>
        </p:nvSpPr>
        <p:spPr>
          <a:xfrm>
            <a:off x="3456432" y="4096512"/>
            <a:ext cx="2240280" cy="320040"/>
          </a:xfrm>
          <a:prstGeom prst="rect">
            <a:avLst/>
          </a:prstGeom>
          <a:noFill/>
        </p:spPr>
        <p:txBody>
          <a:bodyPr wrap="square">
            <a:spAutoFit/>
          </a:bodyPr>
          <a:lstStyle/>
          <a:p>
            <a:pPr algn="l"/>
            <a:r>
              <a:rPr sz="1200" b="1" i="0">
                <a:solidFill>
                  <a:srgbClr val="C5CEFF"/>
                </a:solidFill>
              </a:rPr>
              <a:t>Reward Specification</a:t>
            </a:r>
          </a:p>
        </p:txBody>
      </p:sp>
      <p:sp>
        <p:nvSpPr>
          <p:cNvPr id="28" name="TextBox 27"/>
          <p:cNvSpPr txBox="1"/>
          <p:nvPr/>
        </p:nvSpPr>
        <p:spPr>
          <a:xfrm>
            <a:off x="3456432" y="4398264"/>
            <a:ext cx="2240280" cy="914400"/>
          </a:xfrm>
          <a:prstGeom prst="rect">
            <a:avLst/>
          </a:prstGeom>
          <a:noFill/>
        </p:spPr>
        <p:txBody>
          <a:bodyPr wrap="square">
            <a:spAutoFit/>
          </a:bodyPr>
          <a:lstStyle/>
          <a:p>
            <a:pPr algn="l"/>
            <a:r>
              <a:rPr sz="1000" b="0" i="0">
                <a:solidFill>
                  <a:srgbClr val="8892B0"/>
                </a:solidFill>
              </a:rPr>
              <a:t>World models trained without reward signals may not represent dimensions relevant to goals.</a:t>
            </a:r>
          </a:p>
        </p:txBody>
      </p:sp>
      <p:sp>
        <p:nvSpPr>
          <p:cNvPr id="29" name="Rectangle 28"/>
          <p:cNvSpPr/>
          <p:nvPr/>
        </p:nvSpPr>
        <p:spPr>
          <a:xfrm>
            <a:off x="6044184" y="3593592"/>
            <a:ext cx="2606040" cy="18288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7064" y="3730752"/>
            <a:ext cx="457200" cy="411480"/>
          </a:xfrm>
          <a:prstGeom prst="rect">
            <a:avLst/>
          </a:prstGeom>
          <a:noFill/>
        </p:spPr>
        <p:txBody>
          <a:bodyPr wrap="square">
            <a:spAutoFit/>
          </a:bodyPr>
          <a:lstStyle/>
          <a:p>
            <a:pPr algn="l"/>
            <a:r>
              <a:rPr sz="2000" b="0" i="0">
                <a:solidFill>
                  <a:srgbClr val="FFFFFF"/>
                </a:solidFill>
              </a:rPr>
              <a:t>🔒</a:t>
            </a:r>
          </a:p>
        </p:txBody>
      </p:sp>
      <p:sp>
        <p:nvSpPr>
          <p:cNvPr id="31" name="TextBox 30"/>
          <p:cNvSpPr txBox="1"/>
          <p:nvPr/>
        </p:nvSpPr>
        <p:spPr>
          <a:xfrm>
            <a:off x="6227064" y="4096512"/>
            <a:ext cx="2240280" cy="320040"/>
          </a:xfrm>
          <a:prstGeom prst="rect">
            <a:avLst/>
          </a:prstGeom>
          <a:noFill/>
        </p:spPr>
        <p:txBody>
          <a:bodyPr wrap="square">
            <a:spAutoFit/>
          </a:bodyPr>
          <a:lstStyle/>
          <a:p>
            <a:pPr algn="l"/>
            <a:r>
              <a:rPr sz="1200" b="1" i="0">
                <a:solidFill>
                  <a:srgbClr val="C5CEFF"/>
                </a:solidFill>
              </a:rPr>
              <a:t>Safety &amp; Alignment</a:t>
            </a:r>
          </a:p>
        </p:txBody>
      </p:sp>
      <p:sp>
        <p:nvSpPr>
          <p:cNvPr id="32" name="TextBox 31"/>
          <p:cNvSpPr txBox="1"/>
          <p:nvPr/>
        </p:nvSpPr>
        <p:spPr>
          <a:xfrm>
            <a:off x="6227064" y="4398264"/>
            <a:ext cx="2240280" cy="914400"/>
          </a:xfrm>
          <a:prstGeom prst="rect">
            <a:avLst/>
          </a:prstGeom>
          <a:noFill/>
        </p:spPr>
        <p:txBody>
          <a:bodyPr wrap="square">
            <a:spAutoFit/>
          </a:bodyPr>
          <a:lstStyle/>
          <a:p>
            <a:pPr algn="l"/>
            <a:r>
              <a:rPr sz="1000" b="0" i="0">
                <a:solidFill>
                  <a:srgbClr val="8892B0"/>
                </a:solidFill>
              </a:rPr>
              <a:t>An agent with a powerful world model can reason about manipulating its environment — raising stakes.</a:t>
            </a:r>
          </a:p>
        </p:txBody>
      </p:sp>
      <p:sp>
        <p:nvSpPr>
          <p:cNvPr id="33" name="Rectangle 32"/>
          <p:cNvSpPr/>
          <p:nvPr/>
        </p:nvSpPr>
        <p:spPr>
          <a:xfrm>
            <a:off x="8814816" y="3593592"/>
            <a:ext cx="2606040" cy="182880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97696" y="3730752"/>
            <a:ext cx="457200" cy="411480"/>
          </a:xfrm>
          <a:prstGeom prst="rect">
            <a:avLst/>
          </a:prstGeom>
          <a:noFill/>
        </p:spPr>
        <p:txBody>
          <a:bodyPr wrap="square">
            <a:spAutoFit/>
          </a:bodyPr>
          <a:lstStyle/>
          <a:p>
            <a:pPr algn="l"/>
            <a:r>
              <a:rPr sz="2000" b="0" i="0">
                <a:solidFill>
                  <a:srgbClr val="FFFFFF"/>
                </a:solidFill>
              </a:rPr>
              <a:t>🧪</a:t>
            </a:r>
          </a:p>
        </p:txBody>
      </p:sp>
      <p:sp>
        <p:nvSpPr>
          <p:cNvPr id="35" name="TextBox 34"/>
          <p:cNvSpPr txBox="1"/>
          <p:nvPr/>
        </p:nvSpPr>
        <p:spPr>
          <a:xfrm>
            <a:off x="8997696" y="4096512"/>
            <a:ext cx="2240280" cy="320040"/>
          </a:xfrm>
          <a:prstGeom prst="rect">
            <a:avLst/>
          </a:prstGeom>
          <a:noFill/>
        </p:spPr>
        <p:txBody>
          <a:bodyPr wrap="square">
            <a:spAutoFit/>
          </a:bodyPr>
          <a:lstStyle/>
          <a:p>
            <a:pPr algn="l"/>
            <a:r>
              <a:rPr sz="1200" b="1" i="0">
                <a:solidFill>
                  <a:srgbClr val="C5CEFF"/>
                </a:solidFill>
              </a:rPr>
              <a:t>Evaluation</a:t>
            </a:r>
          </a:p>
        </p:txBody>
      </p:sp>
      <p:sp>
        <p:nvSpPr>
          <p:cNvPr id="36" name="TextBox 35"/>
          <p:cNvSpPr txBox="1"/>
          <p:nvPr/>
        </p:nvSpPr>
        <p:spPr>
          <a:xfrm>
            <a:off x="8997696" y="4398264"/>
            <a:ext cx="2240280" cy="914400"/>
          </a:xfrm>
          <a:prstGeom prst="rect">
            <a:avLst/>
          </a:prstGeom>
          <a:noFill/>
        </p:spPr>
        <p:txBody>
          <a:bodyPr wrap="square">
            <a:spAutoFit/>
          </a:bodyPr>
          <a:lstStyle/>
          <a:p>
            <a:pPr algn="l"/>
            <a:r>
              <a:rPr sz="1000" b="0" i="0">
                <a:solidFill>
                  <a:srgbClr val="8892B0"/>
                </a:solidFill>
              </a:rPr>
              <a:t>No standard benchmark captures whether a model truly understands vs. pattern-matches world states.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5486400" cy="320040"/>
          </a:xfrm>
          <a:prstGeom prst="rect">
            <a:avLst/>
          </a:prstGeom>
          <a:noFill/>
        </p:spPr>
        <p:txBody>
          <a:bodyPr wrap="square">
            <a:spAutoFit/>
          </a:bodyPr>
          <a:lstStyle/>
          <a:p>
            <a:pPr algn="l"/>
            <a:r>
              <a:rPr sz="900" b="1" i="0">
                <a:solidFill>
                  <a:srgbClr val="6B7AFF"/>
                </a:solidFill>
              </a:rPr>
              <a:t>LOOKING FORWARD</a:t>
            </a:r>
          </a:p>
        </p:txBody>
      </p:sp>
      <p:sp>
        <p:nvSpPr>
          <p:cNvPr id="4" name="TextBox 3"/>
          <p:cNvSpPr txBox="1"/>
          <p:nvPr/>
        </p:nvSpPr>
        <p:spPr>
          <a:xfrm>
            <a:off x="640080" y="777240"/>
            <a:ext cx="10881360" cy="1280160"/>
          </a:xfrm>
          <a:prstGeom prst="rect">
            <a:avLst/>
          </a:prstGeom>
          <a:noFill/>
        </p:spPr>
        <p:txBody>
          <a:bodyPr wrap="square">
            <a:spAutoFit/>
          </a:bodyPr>
          <a:lstStyle/>
          <a:p>
            <a:pPr algn="l"/>
            <a:r>
              <a:rPr sz="4000" b="1">
                <a:solidFill>
                  <a:srgbClr val="FFFFFF"/>
                </a:solidFill>
              </a:rPr>
              <a:t>The Road Ahead</a:t>
            </a:r>
          </a:p>
        </p:txBody>
      </p:sp>
      <p:sp>
        <p:nvSpPr>
          <p:cNvPr id="5" name="Rectangle 4"/>
          <p:cNvSpPr/>
          <p:nvPr/>
        </p:nvSpPr>
        <p:spPr>
          <a:xfrm>
            <a:off x="640080" y="1691640"/>
            <a:ext cx="3474720" cy="237744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457200" cy="411480"/>
          </a:xfrm>
          <a:prstGeom prst="rect">
            <a:avLst/>
          </a:prstGeom>
          <a:noFill/>
        </p:spPr>
        <p:txBody>
          <a:bodyPr wrap="square">
            <a:spAutoFit/>
          </a:bodyPr>
          <a:lstStyle/>
          <a:p>
            <a:pPr algn="l"/>
            <a:r>
              <a:rPr sz="2000" b="0" i="0">
                <a:solidFill>
                  <a:srgbClr val="FFFFFF"/>
                </a:solidFill>
              </a:rPr>
              <a:t>🧬</a:t>
            </a:r>
          </a:p>
        </p:txBody>
      </p:sp>
      <p:sp>
        <p:nvSpPr>
          <p:cNvPr id="7" name="TextBox 6"/>
          <p:cNvSpPr txBox="1"/>
          <p:nvPr/>
        </p:nvSpPr>
        <p:spPr>
          <a:xfrm>
            <a:off x="822960" y="2194560"/>
            <a:ext cx="3108960" cy="320040"/>
          </a:xfrm>
          <a:prstGeom prst="rect">
            <a:avLst/>
          </a:prstGeom>
          <a:noFill/>
        </p:spPr>
        <p:txBody>
          <a:bodyPr wrap="square">
            <a:spAutoFit/>
          </a:bodyPr>
          <a:lstStyle/>
          <a:p>
            <a:pPr algn="l"/>
            <a:r>
              <a:rPr sz="1200" b="1" i="0">
                <a:solidFill>
                  <a:srgbClr val="C5CEFF"/>
                </a:solidFill>
              </a:rPr>
              <a:t>Unified Architectures</a:t>
            </a:r>
          </a:p>
        </p:txBody>
      </p:sp>
      <p:sp>
        <p:nvSpPr>
          <p:cNvPr id="8" name="TextBox 7"/>
          <p:cNvSpPr txBox="1"/>
          <p:nvPr/>
        </p:nvSpPr>
        <p:spPr>
          <a:xfrm>
            <a:off x="822960" y="2496312"/>
            <a:ext cx="3108960" cy="1463040"/>
          </a:xfrm>
          <a:prstGeom prst="rect">
            <a:avLst/>
          </a:prstGeom>
          <a:noFill/>
        </p:spPr>
        <p:txBody>
          <a:bodyPr wrap="square">
            <a:spAutoFit/>
          </a:bodyPr>
          <a:lstStyle/>
          <a:p>
            <a:pPr algn="l"/>
            <a:r>
              <a:rPr sz="1000" b="0" i="0">
                <a:solidFill>
                  <a:srgbClr val="8892B0"/>
                </a:solidFill>
              </a:rPr>
              <a:t>Converging language, perception, and action into a single world model backbone (e.g., JEPA variants, multimodal RSSM).</a:t>
            </a:r>
          </a:p>
        </p:txBody>
      </p:sp>
      <p:sp>
        <p:nvSpPr>
          <p:cNvPr id="9" name="Rectangle 8"/>
          <p:cNvSpPr/>
          <p:nvPr/>
        </p:nvSpPr>
        <p:spPr>
          <a:xfrm>
            <a:off x="4343400" y="1691640"/>
            <a:ext cx="3474720" cy="237744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828800"/>
            <a:ext cx="457200" cy="411480"/>
          </a:xfrm>
          <a:prstGeom prst="rect">
            <a:avLst/>
          </a:prstGeom>
          <a:noFill/>
        </p:spPr>
        <p:txBody>
          <a:bodyPr wrap="square">
            <a:spAutoFit/>
          </a:bodyPr>
          <a:lstStyle/>
          <a:p>
            <a:pPr algn="l"/>
            <a:r>
              <a:rPr sz="2000" b="0" i="0">
                <a:solidFill>
                  <a:srgbClr val="FFFFFF"/>
                </a:solidFill>
              </a:rPr>
              <a:t>🌱</a:t>
            </a:r>
          </a:p>
        </p:txBody>
      </p:sp>
      <p:sp>
        <p:nvSpPr>
          <p:cNvPr id="11" name="TextBox 10"/>
          <p:cNvSpPr txBox="1"/>
          <p:nvPr/>
        </p:nvSpPr>
        <p:spPr>
          <a:xfrm>
            <a:off x="4526280" y="2194560"/>
            <a:ext cx="3108960" cy="320040"/>
          </a:xfrm>
          <a:prstGeom prst="rect">
            <a:avLst/>
          </a:prstGeom>
          <a:noFill/>
        </p:spPr>
        <p:txBody>
          <a:bodyPr wrap="square">
            <a:spAutoFit/>
          </a:bodyPr>
          <a:lstStyle/>
          <a:p>
            <a:pPr algn="l"/>
            <a:r>
              <a:rPr sz="1200" b="1" i="0">
                <a:solidFill>
                  <a:srgbClr val="C5CEFF"/>
                </a:solidFill>
              </a:rPr>
              <a:t>Continuous Learning</a:t>
            </a:r>
          </a:p>
        </p:txBody>
      </p:sp>
      <p:sp>
        <p:nvSpPr>
          <p:cNvPr id="12" name="TextBox 11"/>
          <p:cNvSpPr txBox="1"/>
          <p:nvPr/>
        </p:nvSpPr>
        <p:spPr>
          <a:xfrm>
            <a:off x="4526280" y="2496312"/>
            <a:ext cx="3108960" cy="1463040"/>
          </a:xfrm>
          <a:prstGeom prst="rect">
            <a:avLst/>
          </a:prstGeom>
          <a:noFill/>
        </p:spPr>
        <p:txBody>
          <a:bodyPr wrap="square">
            <a:spAutoFit/>
          </a:bodyPr>
          <a:lstStyle/>
          <a:p>
            <a:pPr algn="l"/>
            <a:r>
              <a:rPr sz="1000" b="0" i="0">
                <a:solidFill>
                  <a:srgbClr val="8892B0"/>
                </a:solidFill>
              </a:rPr>
              <a:t>Models that update their world model online from new experience without catastrophic forgetting.</a:t>
            </a:r>
          </a:p>
        </p:txBody>
      </p:sp>
      <p:sp>
        <p:nvSpPr>
          <p:cNvPr id="13" name="Rectangle 12"/>
          <p:cNvSpPr/>
          <p:nvPr/>
        </p:nvSpPr>
        <p:spPr>
          <a:xfrm>
            <a:off x="8046720" y="1691640"/>
            <a:ext cx="3474720" cy="2377440"/>
          </a:xfrm>
          <a:prstGeom prst="rect">
            <a:avLst/>
          </a:prstGeom>
          <a:solidFill>
            <a:srgbClr val="12121E"/>
          </a:solidFill>
          <a:ln w="9525">
            <a:solidFill>
              <a:srgbClr val="2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457200" cy="411480"/>
          </a:xfrm>
          <a:prstGeom prst="rect">
            <a:avLst/>
          </a:prstGeom>
          <a:noFill/>
        </p:spPr>
        <p:txBody>
          <a:bodyPr wrap="square">
            <a:spAutoFit/>
          </a:bodyPr>
          <a:lstStyle/>
          <a:p>
            <a:pPr algn="l"/>
            <a:r>
              <a:rPr sz="2000" b="0" i="0">
                <a:solidFill>
                  <a:srgbClr val="FFFFFF"/>
                </a:solidFill>
              </a:rPr>
              <a:t>🤝</a:t>
            </a:r>
          </a:p>
        </p:txBody>
      </p:sp>
      <p:sp>
        <p:nvSpPr>
          <p:cNvPr id="15" name="TextBox 14"/>
          <p:cNvSpPr txBox="1"/>
          <p:nvPr/>
        </p:nvSpPr>
        <p:spPr>
          <a:xfrm>
            <a:off x="8229600" y="2194560"/>
            <a:ext cx="3108960" cy="320040"/>
          </a:xfrm>
          <a:prstGeom prst="rect">
            <a:avLst/>
          </a:prstGeom>
          <a:noFill/>
        </p:spPr>
        <p:txBody>
          <a:bodyPr wrap="square">
            <a:spAutoFit/>
          </a:bodyPr>
          <a:lstStyle/>
          <a:p>
            <a:pPr algn="l"/>
            <a:r>
              <a:rPr sz="1200" b="1" i="0">
                <a:solidFill>
                  <a:srgbClr val="C5CEFF"/>
                </a:solidFill>
              </a:rPr>
              <a:t>Theory of Mind</a:t>
            </a:r>
          </a:p>
        </p:txBody>
      </p:sp>
      <p:sp>
        <p:nvSpPr>
          <p:cNvPr id="16" name="TextBox 15"/>
          <p:cNvSpPr txBox="1"/>
          <p:nvPr/>
        </p:nvSpPr>
        <p:spPr>
          <a:xfrm>
            <a:off x="8229600" y="2496312"/>
            <a:ext cx="3108960" cy="1463040"/>
          </a:xfrm>
          <a:prstGeom prst="rect">
            <a:avLst/>
          </a:prstGeom>
          <a:noFill/>
        </p:spPr>
        <p:txBody>
          <a:bodyPr wrap="square">
            <a:spAutoFit/>
          </a:bodyPr>
          <a:lstStyle/>
          <a:p>
            <a:pPr algn="l"/>
            <a:r>
              <a:rPr sz="1000" b="0" i="0">
                <a:solidFill>
                  <a:srgbClr val="8892B0"/>
                </a:solidFill>
              </a:rPr>
              <a:t>Explicitly modeling other agents' beliefs and intentions within the world model for social and cooperative AI.</a:t>
            </a:r>
          </a:p>
        </p:txBody>
      </p:sp>
      <p:sp>
        <p:nvSpPr>
          <p:cNvPr id="17" name="Rectangle 16"/>
          <p:cNvSpPr/>
          <p:nvPr/>
        </p:nvSpPr>
        <p:spPr>
          <a:xfrm>
            <a:off x="640080" y="4251960"/>
            <a:ext cx="10881360" cy="1097280"/>
          </a:xfrm>
          <a:prstGeom prst="rect">
            <a:avLst/>
          </a:prstGeom>
          <a:solidFill>
            <a:srgbClr val="101025"/>
          </a:solidFill>
          <a:ln w="12700">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389120"/>
            <a:ext cx="10332720" cy="822960"/>
          </a:xfrm>
          <a:prstGeom prst="rect">
            <a:avLst/>
          </a:prstGeom>
          <a:noFill/>
        </p:spPr>
        <p:txBody>
          <a:bodyPr wrap="square">
            <a:spAutoFit/>
          </a:bodyPr>
          <a:lstStyle/>
          <a:p>
            <a:pPr algn="l"/>
            <a:r>
              <a:rPr sz="1300" b="0" i="1">
                <a:solidFill>
                  <a:srgbClr val="C5CEFF"/>
                </a:solidFill>
              </a:rPr>
              <a:t>"The next leap in AI capability will likely come not from larger models, but from models that build and maintain richer, more accurate internal simulations of how the world actually works."</a:t>
            </a:r>
          </a:p>
        </p:txBody>
      </p:sp>
      <p:sp>
        <p:nvSpPr>
          <p:cNvPr id="19" name="Rectangle 18"/>
          <p:cNvSpPr/>
          <p:nvPr/>
        </p:nvSpPr>
        <p:spPr>
          <a:xfrm>
            <a:off x="640080" y="5577840"/>
            <a:ext cx="2024481" cy="27432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5605272"/>
            <a:ext cx="2024481" cy="246888"/>
          </a:xfrm>
          <a:prstGeom prst="rect">
            <a:avLst/>
          </a:prstGeom>
          <a:noFill/>
        </p:spPr>
        <p:txBody>
          <a:bodyPr wrap="square">
            <a:spAutoFit/>
          </a:bodyPr>
          <a:lstStyle/>
          <a:p>
            <a:pPr algn="l"/>
            <a:r>
              <a:rPr sz="800" b="0" i="0">
                <a:solidFill>
                  <a:srgbClr val="6B7AFF"/>
                </a:solidFill>
              </a:rPr>
              <a:t>Neuro-symbolic hybrids</a:t>
            </a:r>
          </a:p>
        </p:txBody>
      </p:sp>
      <p:sp>
        <p:nvSpPr>
          <p:cNvPr id="21" name="Rectangle 20"/>
          <p:cNvSpPr/>
          <p:nvPr/>
        </p:nvSpPr>
        <p:spPr>
          <a:xfrm>
            <a:off x="2801721" y="5577840"/>
            <a:ext cx="1785823" cy="27432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65729" y="5605272"/>
            <a:ext cx="1785823" cy="246888"/>
          </a:xfrm>
          <a:prstGeom prst="rect">
            <a:avLst/>
          </a:prstGeom>
          <a:noFill/>
        </p:spPr>
        <p:txBody>
          <a:bodyPr wrap="square">
            <a:spAutoFit/>
          </a:bodyPr>
          <a:lstStyle/>
          <a:p>
            <a:pPr algn="l"/>
            <a:r>
              <a:rPr sz="800" b="0" i="0">
                <a:solidFill>
                  <a:srgbClr val="6B7AFF"/>
                </a:solidFill>
              </a:rPr>
              <a:t>Causal world models</a:t>
            </a:r>
          </a:p>
        </p:txBody>
      </p:sp>
      <p:sp>
        <p:nvSpPr>
          <p:cNvPr id="23" name="Rectangle 22"/>
          <p:cNvSpPr/>
          <p:nvPr/>
        </p:nvSpPr>
        <p:spPr>
          <a:xfrm>
            <a:off x="4724704" y="5577840"/>
            <a:ext cx="1228953" cy="27432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88712" y="5605272"/>
            <a:ext cx="1228953" cy="246888"/>
          </a:xfrm>
          <a:prstGeom prst="rect">
            <a:avLst/>
          </a:prstGeom>
          <a:noFill/>
        </p:spPr>
        <p:txBody>
          <a:bodyPr wrap="square">
            <a:spAutoFit/>
          </a:bodyPr>
          <a:lstStyle/>
          <a:p>
            <a:pPr algn="l"/>
            <a:r>
              <a:rPr sz="800" b="0" i="0">
                <a:solidFill>
                  <a:srgbClr val="6B7AFF"/>
                </a:solidFill>
              </a:rPr>
              <a:t>Embodied AGI</a:t>
            </a:r>
          </a:p>
        </p:txBody>
      </p:sp>
      <p:sp>
        <p:nvSpPr>
          <p:cNvPr id="25" name="Rectangle 24"/>
          <p:cNvSpPr/>
          <p:nvPr/>
        </p:nvSpPr>
        <p:spPr>
          <a:xfrm>
            <a:off x="6090817" y="5577840"/>
            <a:ext cx="2263139" cy="27432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54825" y="5605272"/>
            <a:ext cx="2263139" cy="246888"/>
          </a:xfrm>
          <a:prstGeom prst="rect">
            <a:avLst/>
          </a:prstGeom>
          <a:noFill/>
        </p:spPr>
        <p:txBody>
          <a:bodyPr wrap="square">
            <a:spAutoFit/>
          </a:bodyPr>
          <a:lstStyle/>
          <a:p>
            <a:pPr algn="l"/>
            <a:r>
              <a:rPr sz="800" b="0" i="0">
                <a:solidFill>
                  <a:srgbClr val="6B7AFF"/>
                </a:solidFill>
              </a:rPr>
              <a:t>Self-supervised grounding</a:t>
            </a:r>
          </a:p>
        </p:txBody>
      </p:sp>
      <p:sp>
        <p:nvSpPr>
          <p:cNvPr id="27" name="Rectangle 26"/>
          <p:cNvSpPr/>
          <p:nvPr/>
        </p:nvSpPr>
        <p:spPr>
          <a:xfrm>
            <a:off x="8491116" y="5577840"/>
            <a:ext cx="1626717" cy="274320"/>
          </a:xfrm>
          <a:prstGeom prst="rect">
            <a:avLst/>
          </a:prstGeom>
          <a:solidFill>
            <a:srgbClr val="101025"/>
          </a:solidFill>
          <a:ln w="9525">
            <a:solidFill>
              <a:srgbClr val="6B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55124" y="5605272"/>
            <a:ext cx="1626717" cy="246888"/>
          </a:xfrm>
          <a:prstGeom prst="rect">
            <a:avLst/>
          </a:prstGeom>
          <a:noFill/>
        </p:spPr>
        <p:txBody>
          <a:bodyPr wrap="square">
            <a:spAutoFit/>
          </a:bodyPr>
          <a:lstStyle/>
          <a:p>
            <a:pPr algn="l"/>
            <a:r>
              <a:rPr sz="800" b="0" i="0">
                <a:solidFill>
                  <a:srgbClr val="6B7AFF"/>
                </a:solidFill>
              </a:rPr>
              <a:t>Predictive 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